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72" r:id="rId4"/>
  </p:sldMasterIdLst>
  <p:notesMasterIdLst>
    <p:notesMasterId r:id="rId20"/>
  </p:notesMasterIdLst>
  <p:handoutMasterIdLst>
    <p:handoutMasterId r:id="rId21"/>
  </p:handoutMasterIdLst>
  <p:sldIdLst>
    <p:sldId id="256" r:id="rId5"/>
    <p:sldId id="272" r:id="rId6"/>
    <p:sldId id="261" r:id="rId7"/>
    <p:sldId id="262" r:id="rId8"/>
    <p:sldId id="264" r:id="rId9"/>
    <p:sldId id="265" r:id="rId10"/>
    <p:sldId id="266" r:id="rId11"/>
    <p:sldId id="263" r:id="rId12"/>
    <p:sldId id="268" r:id="rId13"/>
    <p:sldId id="269" r:id="rId14"/>
    <p:sldId id="258" r:id="rId15"/>
    <p:sldId id="270" r:id="rId16"/>
    <p:sldId id="271" r:id="rId17"/>
    <p:sldId id="274" r:id="rId18"/>
    <p:sldId id="260"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manullah Ahsan" initials="AA" lastIdx="1" clrIdx="0">
    <p:extLst>
      <p:ext uri="{19B8F6BF-5375-455C-9EA6-DF929625EA0E}">
        <p15:presenceInfo xmlns:p15="http://schemas.microsoft.com/office/powerpoint/2012/main" userId="S::amanullah.ahsan@northsouth.edu::2ff8bed9-9b02-44c2-ae42-8815209c9882"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48" autoAdjust="0"/>
  </p:normalViewPr>
  <p:slideViewPr>
    <p:cSldViewPr snapToGrid="0">
      <p:cViewPr varScale="1">
        <p:scale>
          <a:sx n="81" d="100"/>
          <a:sy n="81" d="100"/>
        </p:scale>
        <p:origin x="754" y="53"/>
      </p:cViewPr>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varScale="1">
        <p:scale>
          <a:sx n="68" d="100"/>
          <a:sy n="68" d="100"/>
        </p:scale>
        <p:origin x="3288" y="84"/>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handoutMaster" Target="handoutMasters/handout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commentAuthors" Target="commen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FF81CEA5-62FD-4C83-BDE3-91DFB9827D8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3FA1CBFD-6AD0-48C4-B91B-58830F6F4C3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F869721-F543-4A6C-BF9D-65D7CC540427}" type="datetimeFigureOut">
              <a:rPr lang="en-US" smtClean="0"/>
              <a:t>4/13/2025</a:t>
            </a:fld>
            <a:endParaRPr lang="en-US" dirty="0"/>
          </a:p>
        </p:txBody>
      </p:sp>
      <p:sp>
        <p:nvSpPr>
          <p:cNvPr id="4" name="Footer Placeholder 3">
            <a:extLst>
              <a:ext uri="{FF2B5EF4-FFF2-40B4-BE49-F238E27FC236}">
                <a16:creationId xmlns:a16="http://schemas.microsoft.com/office/drawing/2014/main" id="{A9E55D22-46A3-4B8C-AD40-252FE7896C36}"/>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8E70DCEF-9071-4B17-801B-37B4465C8E1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90168E-626C-4E60-93C0-A00D25609468}" type="slidenum">
              <a:rPr lang="en-US" smtClean="0"/>
              <a:t>‹#›</a:t>
            </a:fld>
            <a:endParaRPr lang="en-US" dirty="0"/>
          </a:p>
        </p:txBody>
      </p:sp>
    </p:spTree>
    <p:extLst>
      <p:ext uri="{BB962C8B-B14F-4D97-AF65-F5344CB8AC3E}">
        <p14:creationId xmlns:p14="http://schemas.microsoft.com/office/powerpoint/2010/main" val="374934770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732326A-4C88-4AFB-AA5B-5919D81DFF5B}" type="datetimeFigureOut">
              <a:rPr lang="en-US" smtClean="0"/>
              <a:t>4/13/2025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6B3AB32-59DF-41F1-9618-EDFBF5049629}" type="slidenum">
              <a:rPr lang="en-US" smtClean="0"/>
              <a:t>‹#›</a:t>
            </a:fld>
            <a:endParaRPr lang="en-US" dirty="0"/>
          </a:p>
        </p:txBody>
      </p:sp>
    </p:spTree>
    <p:extLst>
      <p:ext uri="{BB962C8B-B14F-4D97-AF65-F5344CB8AC3E}">
        <p14:creationId xmlns:p14="http://schemas.microsoft.com/office/powerpoint/2010/main" val="36618056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6B3AB32-59DF-41F1-9618-EDFBF5049629}" type="slidenum">
              <a:rPr lang="en-US" smtClean="0"/>
              <a:t>1</a:t>
            </a:fld>
            <a:endParaRPr lang="en-US" dirty="0"/>
          </a:p>
        </p:txBody>
      </p:sp>
    </p:spTree>
    <p:extLst>
      <p:ext uri="{BB962C8B-B14F-4D97-AF65-F5344CB8AC3E}">
        <p14:creationId xmlns:p14="http://schemas.microsoft.com/office/powerpoint/2010/main" val="139004701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35FE98-CDBB-B6FA-AB93-CC7D2115A84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86AADA0-496D-0086-FC1A-2F889B25785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D2B3D54-40F4-CD61-8EEE-D914507CFB9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467FF70-D222-EC91-FCC9-98E9A86A1AE7}"/>
              </a:ext>
            </a:extLst>
          </p:cNvPr>
          <p:cNvSpPr>
            <a:spLocks noGrp="1"/>
          </p:cNvSpPr>
          <p:nvPr>
            <p:ph type="sldNum" sz="quarter" idx="5"/>
          </p:nvPr>
        </p:nvSpPr>
        <p:spPr/>
        <p:txBody>
          <a:bodyPr/>
          <a:lstStyle/>
          <a:p>
            <a:fld id="{C6B3AB32-59DF-41F1-9618-EDFBF5049629}" type="slidenum">
              <a:rPr lang="en-US" smtClean="0"/>
              <a:t>2</a:t>
            </a:fld>
            <a:endParaRPr lang="en-US" dirty="0"/>
          </a:p>
        </p:txBody>
      </p:sp>
    </p:spTree>
    <p:extLst>
      <p:ext uri="{BB962C8B-B14F-4D97-AF65-F5344CB8AC3E}">
        <p14:creationId xmlns:p14="http://schemas.microsoft.com/office/powerpoint/2010/main" val="270788608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6B3AB32-59DF-41F1-9618-EDFBF5049629}" type="slidenum">
              <a:rPr lang="en-US" smtClean="0"/>
              <a:t>3</a:t>
            </a:fld>
            <a:endParaRPr lang="en-US" dirty="0"/>
          </a:p>
        </p:txBody>
      </p:sp>
    </p:spTree>
    <p:extLst>
      <p:ext uri="{BB962C8B-B14F-4D97-AF65-F5344CB8AC3E}">
        <p14:creationId xmlns:p14="http://schemas.microsoft.com/office/powerpoint/2010/main" val="43192758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509310-4C70-6449-C297-B82C24B327C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308B247-42A6-1AE3-FE19-337A446B477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E51D3A2-ADCD-80BD-0B97-D323BCEA7ED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0BC8066-259C-0050-8C89-D1BF4A8237FC}"/>
              </a:ext>
            </a:extLst>
          </p:cNvPr>
          <p:cNvSpPr>
            <a:spLocks noGrp="1"/>
          </p:cNvSpPr>
          <p:nvPr>
            <p:ph type="sldNum" sz="quarter" idx="5"/>
          </p:nvPr>
        </p:nvSpPr>
        <p:spPr/>
        <p:txBody>
          <a:bodyPr/>
          <a:lstStyle/>
          <a:p>
            <a:fld id="{C6B3AB32-59DF-41F1-9618-EDFBF5049629}" type="slidenum">
              <a:rPr lang="en-US" smtClean="0"/>
              <a:t>4</a:t>
            </a:fld>
            <a:endParaRPr lang="en-US" dirty="0"/>
          </a:p>
        </p:txBody>
      </p:sp>
    </p:spTree>
    <p:extLst>
      <p:ext uri="{BB962C8B-B14F-4D97-AF65-F5344CB8AC3E}">
        <p14:creationId xmlns:p14="http://schemas.microsoft.com/office/powerpoint/2010/main" val="111708578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455569-3D79-7BCB-E4A8-F7E9782E2EA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C714CD5-8214-3EE0-ADB0-F75E6D33350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40AE822-3BFC-CCEE-D7D2-39213A35C0E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A93982B-6AA6-C967-42C3-66C91A21615B}"/>
              </a:ext>
            </a:extLst>
          </p:cNvPr>
          <p:cNvSpPr>
            <a:spLocks noGrp="1"/>
          </p:cNvSpPr>
          <p:nvPr>
            <p:ph type="sldNum" sz="quarter" idx="5"/>
          </p:nvPr>
        </p:nvSpPr>
        <p:spPr/>
        <p:txBody>
          <a:bodyPr/>
          <a:lstStyle/>
          <a:p>
            <a:fld id="{C6B3AB32-59DF-41F1-9618-EDFBF5049629}" type="slidenum">
              <a:rPr lang="en-US" smtClean="0"/>
              <a:t>5</a:t>
            </a:fld>
            <a:endParaRPr lang="en-US" dirty="0"/>
          </a:p>
        </p:txBody>
      </p:sp>
    </p:spTree>
    <p:extLst>
      <p:ext uri="{BB962C8B-B14F-4D97-AF65-F5344CB8AC3E}">
        <p14:creationId xmlns:p14="http://schemas.microsoft.com/office/powerpoint/2010/main" val="386464461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5F639D-938D-0862-5595-EB9C5FBC430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76FD1DE-7F97-1BBD-6428-8F7786E01E2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0A8E304-A5B5-8F62-D832-BC6708A758F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F5261BD-D414-952C-7DE1-EF770CF24AA9}"/>
              </a:ext>
            </a:extLst>
          </p:cNvPr>
          <p:cNvSpPr>
            <a:spLocks noGrp="1"/>
          </p:cNvSpPr>
          <p:nvPr>
            <p:ph type="sldNum" sz="quarter" idx="5"/>
          </p:nvPr>
        </p:nvSpPr>
        <p:spPr/>
        <p:txBody>
          <a:bodyPr/>
          <a:lstStyle/>
          <a:p>
            <a:fld id="{C6B3AB32-59DF-41F1-9618-EDFBF5049629}" type="slidenum">
              <a:rPr lang="en-US" smtClean="0"/>
              <a:t>6</a:t>
            </a:fld>
            <a:endParaRPr lang="en-US" dirty="0"/>
          </a:p>
        </p:txBody>
      </p:sp>
    </p:spTree>
    <p:extLst>
      <p:ext uri="{BB962C8B-B14F-4D97-AF65-F5344CB8AC3E}">
        <p14:creationId xmlns:p14="http://schemas.microsoft.com/office/powerpoint/2010/main" val="63277991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53F8B1-9681-AFBA-426A-CCEFFFB4111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4BB1ED0-4E32-7ED4-9C31-0BF7079DC2A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E09BFAB-2BCA-DC9F-8772-EEFBEB62830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5D6A48A-FA7A-E851-841D-36C6944B4AA6}"/>
              </a:ext>
            </a:extLst>
          </p:cNvPr>
          <p:cNvSpPr>
            <a:spLocks noGrp="1"/>
          </p:cNvSpPr>
          <p:nvPr>
            <p:ph type="sldNum" sz="quarter" idx="5"/>
          </p:nvPr>
        </p:nvSpPr>
        <p:spPr/>
        <p:txBody>
          <a:bodyPr/>
          <a:lstStyle/>
          <a:p>
            <a:fld id="{C6B3AB32-59DF-41F1-9618-EDFBF5049629}" type="slidenum">
              <a:rPr lang="en-US" smtClean="0"/>
              <a:t>7</a:t>
            </a:fld>
            <a:endParaRPr lang="en-US" dirty="0"/>
          </a:p>
        </p:txBody>
      </p:sp>
    </p:spTree>
    <p:extLst>
      <p:ext uri="{BB962C8B-B14F-4D97-AF65-F5344CB8AC3E}">
        <p14:creationId xmlns:p14="http://schemas.microsoft.com/office/powerpoint/2010/main" val="403978094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0716C4-D636-6DED-8E48-2C3CD4F0CD7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44469F0-7B8D-CB59-2208-B295DBA51F2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8FC10E0-C550-DC88-26AC-251317BB7C6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2940AA8-B9F0-EE44-E446-BB2B4A394D78}"/>
              </a:ext>
            </a:extLst>
          </p:cNvPr>
          <p:cNvSpPr>
            <a:spLocks noGrp="1"/>
          </p:cNvSpPr>
          <p:nvPr>
            <p:ph type="sldNum" sz="quarter" idx="5"/>
          </p:nvPr>
        </p:nvSpPr>
        <p:spPr/>
        <p:txBody>
          <a:bodyPr/>
          <a:lstStyle/>
          <a:p>
            <a:fld id="{C6B3AB32-59DF-41F1-9618-EDFBF5049629}" type="slidenum">
              <a:rPr lang="en-US" smtClean="0"/>
              <a:t>8</a:t>
            </a:fld>
            <a:endParaRPr lang="en-US" dirty="0"/>
          </a:p>
        </p:txBody>
      </p:sp>
    </p:spTree>
    <p:extLst>
      <p:ext uri="{BB962C8B-B14F-4D97-AF65-F5344CB8AC3E}">
        <p14:creationId xmlns:p14="http://schemas.microsoft.com/office/powerpoint/2010/main" val="242369642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F1A2CE-7B70-3264-D6B6-09126DDD666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54079F5-3FAE-65A4-658A-DE13E506D57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94544F6-7BC7-B699-B4F0-1084F7D13A1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8CC26DD-63DE-5ABA-3BAA-846ECEE5B9AA}"/>
              </a:ext>
            </a:extLst>
          </p:cNvPr>
          <p:cNvSpPr>
            <a:spLocks noGrp="1"/>
          </p:cNvSpPr>
          <p:nvPr>
            <p:ph type="sldNum" sz="quarter" idx="5"/>
          </p:nvPr>
        </p:nvSpPr>
        <p:spPr/>
        <p:txBody>
          <a:bodyPr/>
          <a:lstStyle/>
          <a:p>
            <a:fld id="{C6B3AB32-59DF-41F1-9618-EDFBF5049629}" type="slidenum">
              <a:rPr lang="en-US" smtClean="0"/>
              <a:t>9</a:t>
            </a:fld>
            <a:endParaRPr lang="en-US" dirty="0"/>
          </a:p>
        </p:txBody>
      </p:sp>
    </p:spTree>
    <p:extLst>
      <p:ext uri="{BB962C8B-B14F-4D97-AF65-F5344CB8AC3E}">
        <p14:creationId xmlns:p14="http://schemas.microsoft.com/office/powerpoint/2010/main" val="216246037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6B3AB32-59DF-41F1-9618-EDFBF5049629}" type="slidenum">
              <a:rPr lang="en-US" smtClean="0"/>
              <a:t>15</a:t>
            </a:fld>
            <a:endParaRPr lang="en-US" dirty="0"/>
          </a:p>
        </p:txBody>
      </p:sp>
    </p:spTree>
    <p:extLst>
      <p:ext uri="{BB962C8B-B14F-4D97-AF65-F5344CB8AC3E}">
        <p14:creationId xmlns:p14="http://schemas.microsoft.com/office/powerpoint/2010/main" val="104671413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605951" y="5956137"/>
            <a:ext cx="2844800" cy="365125"/>
          </a:xfrm>
        </p:spPr>
        <p:txBody>
          <a:bodyPr/>
          <a:lstStyle>
            <a:lvl1pPr>
              <a:defRPr>
                <a:solidFill>
                  <a:schemeClr val="accent1">
                    <a:lumMod val="75000"/>
                    <a:lumOff val="25000"/>
                  </a:schemeClr>
                </a:solidFill>
              </a:defRPr>
            </a:lvl1pPr>
          </a:lstStyle>
          <a:p>
            <a:fld id="{B61BEF0D-F0BB-DE4B-95CE-6DB70DBA9567}" type="datetimeFigureOut">
              <a:rPr lang="en-US" smtClean="0"/>
              <a:pPr/>
              <a:t>4/13/2025</a:t>
            </a:fld>
            <a:endParaRPr lang="en-US" dirty="0"/>
          </a:p>
        </p:txBody>
      </p:sp>
      <p:sp>
        <p:nvSpPr>
          <p:cNvPr id="5" name="Footer Placeholder 4"/>
          <p:cNvSpPr>
            <a:spLocks noGrp="1"/>
          </p:cNvSpPr>
          <p:nvPr>
            <p:ph type="ftr" sz="quarter" idx="11"/>
          </p:nvPr>
        </p:nvSpPr>
        <p:spPr>
          <a:xfrm>
            <a:off x="581192" y="5951811"/>
            <a:ext cx="6917210" cy="365125"/>
          </a:xfrm>
        </p:spPr>
        <p:txBody>
          <a:bodyPr/>
          <a:lstStyle>
            <a:lvl1pPr>
              <a:defRPr>
                <a:solidFill>
                  <a:schemeClr val="accent1">
                    <a:lumMod val="75000"/>
                    <a:lumOff val="25000"/>
                  </a:schemeClr>
                </a:solidFill>
              </a:defRPr>
            </a:lvl1pPr>
          </a:lstStyle>
          <a:p>
            <a:endParaRPr lang="en-US" dirty="0"/>
          </a:p>
        </p:txBody>
      </p:sp>
      <p:sp>
        <p:nvSpPr>
          <p:cNvPr id="6" name="Slide Number Placeholder 5"/>
          <p:cNvSpPr>
            <a:spLocks noGrp="1"/>
          </p:cNvSpPr>
          <p:nvPr>
            <p:ph type="sldNum" sz="quarter" idx="12"/>
          </p:nvPr>
        </p:nvSpPr>
        <p:spPr>
          <a:xfrm>
            <a:off x="10558300" y="5956137"/>
            <a:ext cx="1016440" cy="365125"/>
          </a:xfrm>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1030186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Content Placeholder 2"/>
          <p:cNvSpPr>
            <a:spLocks noGrp="1"/>
          </p:cNvSpPr>
          <p:nvPr>
            <p:ph idx="1"/>
          </p:nvPr>
        </p:nvSpPr>
        <p:spPr>
          <a:xfrm>
            <a:off x="581192" y="2180496"/>
            <a:ext cx="11029615" cy="367830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4/13/2025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10558300" y="5956137"/>
            <a:ext cx="1052508" cy="365125"/>
          </a:xfrm>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7399816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3043910"/>
            <a:ext cx="11029615" cy="1497507"/>
          </a:xfrm>
        </p:spPr>
        <p:txBody>
          <a:bodyPr anchor="b">
            <a:normAutofit/>
          </a:bodyPr>
          <a:lstStyle>
            <a:lvl1pPr algn="l">
              <a:defRPr sz="3600" b="0" cap="all">
                <a:solidFill>
                  <a:schemeClr val="accent1"/>
                </a:solidFill>
              </a:defRPr>
            </a:lvl1pPr>
          </a:lstStyle>
          <a:p>
            <a:r>
              <a:rPr lang="en-US"/>
              <a:t>Click to edit Master title style</a:t>
            </a:r>
            <a:endParaRPr lang="en-US" dirty="0"/>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B61BEF0D-F0BB-DE4B-95CE-6DB70DBA9567}" type="datetimeFigureOut">
              <a:rPr lang="en-US" smtClean="0"/>
              <a:pPr/>
              <a:t>4/13/2025</a:t>
            </a:fld>
            <a:endParaRPr lang="en-US" dirty="0"/>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n-US" dirty="0"/>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9092908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Content Placeholder 2"/>
          <p:cNvSpPr>
            <a:spLocks noGrp="1"/>
          </p:cNvSpPr>
          <p:nvPr>
            <p:ph sz="half" idx="1"/>
          </p:nvPr>
        </p:nvSpPr>
        <p:spPr>
          <a:xfrm>
            <a:off x="581193" y="2228003"/>
            <a:ext cx="5422390"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8417" y="2228003"/>
            <a:ext cx="5422392"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4/13/2025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871674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1" name="Rectangle 10"/>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Text Placeholder 2"/>
          <p:cNvSpPr>
            <a:spLocks noGrp="1"/>
          </p:cNvSpPr>
          <p:nvPr>
            <p:ph type="body" idx="1"/>
          </p:nvPr>
        </p:nvSpPr>
        <p:spPr>
          <a:xfrm>
            <a:off x="887219" y="2250892"/>
            <a:ext cx="5087075" cy="536005"/>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23735" y="2250892"/>
            <a:ext cx="5087073" cy="553373"/>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709"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4/13/2025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4285740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B61BEF0D-F0BB-DE4B-95CE-6DB70DBA9567}" type="datetimeFigureOut">
              <a:rPr lang="en-US" smtClean="0"/>
              <a:pPr/>
              <a:t>4/13/2025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
        <p:nvSpPr>
          <p:cNvPr id="7" name="Rectangle 6"/>
          <p:cNvSpPr>
            <a:spLocks noChangeAspect="1"/>
          </p:cNvSpPr>
          <p:nvPr/>
        </p:nvSpPr>
        <p:spPr>
          <a:xfrm>
            <a:off x="440683"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8" name="Title 1"/>
          <p:cNvSpPr>
            <a:spLocks noGrp="1"/>
          </p:cNvSpPr>
          <p:nvPr>
            <p:ph type="title"/>
          </p:nvPr>
        </p:nvSpPr>
        <p:spPr>
          <a:xfrm>
            <a:off x="575894" y="729658"/>
            <a:ext cx="11029616" cy="988332"/>
          </a:xfrm>
        </p:spPr>
        <p:txBody>
          <a:bodyPr/>
          <a:lstStyle/>
          <a:p>
            <a:r>
              <a:rPr lang="en-US"/>
              <a:t>Click to edit Master title style</a:t>
            </a:r>
            <a:endParaRPr lang="en-US" dirty="0"/>
          </a:p>
        </p:txBody>
      </p:sp>
    </p:spTree>
    <p:extLst>
      <p:ext uri="{BB962C8B-B14F-4D97-AF65-F5344CB8AC3E}">
        <p14:creationId xmlns:p14="http://schemas.microsoft.com/office/powerpoint/2010/main" val="11643182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4/13/2025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4126904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5141973"/>
            <a:ext cx="11298200"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5262296"/>
            <a:ext cx="4909445" cy="689514"/>
          </a:xfrm>
        </p:spPr>
        <p:txBody>
          <a:bodyPr anchor="ctr"/>
          <a:lstStyle>
            <a:lvl1pPr algn="l">
              <a:defRPr sz="2000" b="0">
                <a:solidFill>
                  <a:schemeClr val="accent1">
                    <a:lumMod val="75000"/>
                    <a:lumOff val="25000"/>
                  </a:schemeClr>
                </a:solidFill>
              </a:defRPr>
            </a:lvl1pPr>
          </a:lstStyle>
          <a:p>
            <a:r>
              <a:rPr lang="en-US"/>
              <a:t>Click to edit Master title style</a:t>
            </a:r>
            <a:endParaRPr lang="en-US" dirty="0"/>
          </a:p>
        </p:txBody>
      </p:sp>
      <p:sp>
        <p:nvSpPr>
          <p:cNvPr id="3" name="Content Placeholder 2"/>
          <p:cNvSpPr>
            <a:spLocks noGrp="1"/>
          </p:cNvSpPr>
          <p:nvPr>
            <p:ph idx="1"/>
          </p:nvPr>
        </p:nvSpPr>
        <p:spPr>
          <a:xfrm>
            <a:off x="447816" y="601200"/>
            <a:ext cx="1129284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740823" y="5262296"/>
            <a:ext cx="5869987" cy="689515"/>
          </a:xfrm>
        </p:spPr>
        <p:txBody>
          <a:bodyPr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B61BEF0D-F0BB-DE4B-95CE-6DB70DBA9567}" type="datetimeFigureOut">
              <a:rPr lang="en-US" smtClean="0"/>
              <a:pPr/>
              <a:t>4/13/2025</a:t>
            </a:fld>
            <a:endParaRPr lang="en-US" dirty="0"/>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32962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accent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447817" y="599725"/>
            <a:ext cx="11290859"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581192" y="5260127"/>
            <a:ext cx="11029617"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4/13/2025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2808037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8" name="Rectangle 7"/>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9"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4/13/2025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4547011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839201" y="599725"/>
            <a:ext cx="2906817"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839201" y="675726"/>
            <a:ext cx="2004164" cy="5183073"/>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74923" y="675726"/>
            <a:ext cx="7896279" cy="5183073"/>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993673" y="5956137"/>
            <a:ext cx="1328141" cy="365125"/>
          </a:xfrm>
        </p:spPr>
        <p:txBody>
          <a:bodyPr/>
          <a:lstStyle>
            <a:lvl1pPr>
              <a:defRPr>
                <a:solidFill>
                  <a:schemeClr val="accent1">
                    <a:lumMod val="75000"/>
                    <a:lumOff val="25000"/>
                  </a:schemeClr>
                </a:solidFill>
              </a:defRPr>
            </a:lvl1pPr>
          </a:lstStyle>
          <a:p>
            <a:fld id="{B61BEF0D-F0BB-DE4B-95CE-6DB70DBA9567}" type="datetimeFigureOut">
              <a:rPr lang="en-US" smtClean="0"/>
              <a:pPr/>
              <a:t>4/13/2025</a:t>
            </a:fld>
            <a:endParaRPr lang="en-US" dirty="0"/>
          </a:p>
        </p:txBody>
      </p:sp>
      <p:sp>
        <p:nvSpPr>
          <p:cNvPr id="5" name="Footer Placeholder 4"/>
          <p:cNvSpPr>
            <a:spLocks noGrp="1"/>
          </p:cNvSpPr>
          <p:nvPr>
            <p:ph type="ftr" sz="quarter" idx="11"/>
          </p:nvPr>
        </p:nvSpPr>
        <p:spPr>
          <a:xfrm>
            <a:off x="774923" y="5951811"/>
            <a:ext cx="7896279" cy="365125"/>
          </a:xfrm>
        </p:spPr>
        <p:txBody>
          <a:bodyPr/>
          <a:lstStyle/>
          <a:p>
            <a:endParaRPr lang="en-US" dirty="0"/>
          </a:p>
        </p:txBody>
      </p:sp>
      <p:sp>
        <p:nvSpPr>
          <p:cNvPr id="6" name="Slide Number Placeholder 5"/>
          <p:cNvSpPr>
            <a:spLocks noGrp="1"/>
          </p:cNvSpPr>
          <p:nvPr>
            <p:ph type="sldNum" sz="quarter" idx="12"/>
          </p:nvPr>
        </p:nvSpPr>
        <p:spPr>
          <a:xfrm>
            <a:off x="10446615" y="5956137"/>
            <a:ext cx="1164195" cy="365125"/>
          </a:xfrm>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2915268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581192" y="2336003"/>
            <a:ext cx="11029616" cy="3522794"/>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05951" y="5956137"/>
            <a:ext cx="2844799" cy="365125"/>
          </a:xfrm>
          <a:prstGeom prst="rect">
            <a:avLst/>
          </a:prstGeom>
        </p:spPr>
        <p:txBody>
          <a:bodyPr vert="horz" lIns="91440" tIns="45720" rIns="91440" bIns="45720" rtlCol="0" anchor="ctr"/>
          <a:lstStyle>
            <a:lvl1pPr algn="r">
              <a:defRPr sz="900">
                <a:solidFill>
                  <a:schemeClr val="accent2"/>
                </a:solidFill>
              </a:defRPr>
            </a:lvl1pPr>
          </a:lstStyle>
          <a:p>
            <a:fld id="{B61BEF0D-F0BB-DE4B-95CE-6DB70DBA9567}" type="datetimeFigureOut">
              <a:rPr lang="en-US" smtClean="0"/>
              <a:pPr/>
              <a:t>4/13/2025</a:t>
            </a:fld>
            <a:endParaRPr lang="en-US" dirty="0"/>
          </a:p>
        </p:txBody>
      </p:sp>
      <p:sp>
        <p:nvSpPr>
          <p:cNvPr id="5" name="Footer Placeholder 4"/>
          <p:cNvSpPr>
            <a:spLocks noGrp="1"/>
          </p:cNvSpPr>
          <p:nvPr>
            <p:ph type="ftr" sz="quarter" idx="3"/>
          </p:nvPr>
        </p:nvSpPr>
        <p:spPr>
          <a:xfrm>
            <a:off x="581192" y="5951811"/>
            <a:ext cx="6917210" cy="365125"/>
          </a:xfrm>
          <a:prstGeom prst="rect">
            <a:avLst/>
          </a:prstGeom>
        </p:spPr>
        <p:txBody>
          <a:bodyPr vert="horz" lIns="91440" tIns="45720" rIns="91440" bIns="45720" rtlCol="0" anchor="ctr"/>
          <a:lstStyle>
            <a:lvl1pPr algn="l">
              <a:defRPr sz="900" cap="all">
                <a:solidFill>
                  <a:schemeClr val="accent2"/>
                </a:solidFill>
              </a:defRPr>
            </a:lvl1pPr>
          </a:lstStyle>
          <a:p>
            <a:endParaRPr lang="en-US" dirty="0"/>
          </a:p>
        </p:txBody>
      </p:sp>
      <p:sp>
        <p:nvSpPr>
          <p:cNvPr id="6" name="Slide Number Placeholder 5"/>
          <p:cNvSpPr>
            <a:spLocks noGrp="1"/>
          </p:cNvSpPr>
          <p:nvPr>
            <p:ph type="sldNum" sz="quarter" idx="4"/>
          </p:nvPr>
        </p:nvSpPr>
        <p:spPr>
          <a:xfrm>
            <a:off x="10558300" y="5956137"/>
            <a:ext cx="1052510" cy="365125"/>
          </a:xfrm>
          <a:prstGeom prst="rect">
            <a:avLst/>
          </a:prstGeom>
        </p:spPr>
        <p:txBody>
          <a:bodyPr vert="horz" lIns="91440" tIns="45720" rIns="91440" bIns="45720" rtlCol="0" anchor="ctr"/>
          <a:lstStyle>
            <a:lvl1pPr algn="r">
              <a:defRPr sz="900">
                <a:solidFill>
                  <a:schemeClr val="accent2"/>
                </a:solidFill>
              </a:defRPr>
            </a:lvl1pPr>
          </a:lstStyle>
          <a:p>
            <a:fld id="{D57F1E4F-1CFF-5643-939E-217C01CDF565}" type="slidenum">
              <a:rPr lang="en-US" smtClean="0"/>
              <a:pPr/>
              <a:t>‹#›</a:t>
            </a:fld>
            <a:endParaRPr lang="en-US" dirty="0"/>
          </a:p>
        </p:txBody>
      </p:sp>
      <p:sp>
        <p:nvSpPr>
          <p:cNvPr id="9" name="Rectangle 8"/>
          <p:cNvSpPr/>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82855549"/>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493D4EDA-58E0-40CC-B3CA-14CDEB349D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7" name="Picture 6" descr="Digital Connections">
            <a:extLst>
              <a:ext uri="{FF2B5EF4-FFF2-40B4-BE49-F238E27FC236}">
                <a16:creationId xmlns:a16="http://schemas.microsoft.com/office/drawing/2014/main" id="{3840F91C-EDD0-4D4E-A4AB-E6C77856C88C}"/>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l="13265" t="9091" r="3502" b="-1"/>
          <a:stretch/>
        </p:blipFill>
        <p:spPr>
          <a:xfrm>
            <a:off x="20" y="10"/>
            <a:ext cx="12191980" cy="6857990"/>
          </a:xfrm>
          <a:prstGeom prst="rect">
            <a:avLst/>
          </a:prstGeom>
        </p:spPr>
      </p:pic>
      <p:grpSp>
        <p:nvGrpSpPr>
          <p:cNvPr id="17" name="Group 16">
            <a:extLst>
              <a:ext uri="{FF2B5EF4-FFF2-40B4-BE49-F238E27FC236}">
                <a16:creationId xmlns:a16="http://schemas.microsoft.com/office/drawing/2014/main" id="{AA9EB0BC-A85E-4C26-B355-5DFCEF6CCB4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46534" y="453643"/>
            <a:ext cx="11298933" cy="98554"/>
            <a:chOff x="446534" y="453643"/>
            <a:chExt cx="11298933" cy="98554"/>
          </a:xfrm>
        </p:grpSpPr>
        <p:sp>
          <p:nvSpPr>
            <p:cNvPr id="18" name="Rectangle 17">
              <a:extLst>
                <a:ext uri="{FF2B5EF4-FFF2-40B4-BE49-F238E27FC236}">
                  <a16:creationId xmlns:a16="http://schemas.microsoft.com/office/drawing/2014/main" id="{3643E56B-BD42-413D-B17D-7958270F5D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9" name="Rectangle 18">
              <a:extLst>
                <a:ext uri="{FF2B5EF4-FFF2-40B4-BE49-F238E27FC236}">
                  <a16:creationId xmlns:a16="http://schemas.microsoft.com/office/drawing/2014/main" id="{96C04F74-9467-4FA5-95DC-8D481A29740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sp>
        <p:sp>
          <p:nvSpPr>
            <p:cNvPr id="20" name="Rectangle 19">
              <a:extLst>
                <a:ext uri="{FF2B5EF4-FFF2-40B4-BE49-F238E27FC236}">
                  <a16:creationId xmlns:a16="http://schemas.microsoft.com/office/drawing/2014/main" id="{D73DE1C3-5C37-42E9-A3F0-256F193832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grpSp>
      <p:sp>
        <p:nvSpPr>
          <p:cNvPr id="22" name="Rectangle 21">
            <a:extLst>
              <a:ext uri="{FF2B5EF4-FFF2-40B4-BE49-F238E27FC236}">
                <a16:creationId xmlns:a16="http://schemas.microsoft.com/office/drawing/2014/main" id="{4A2E7EC3-E07C-46CE-9B25-41865A5068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8732" y="4428067"/>
            <a:ext cx="11260667" cy="1962497"/>
          </a:xfrm>
          <a:prstGeom prst="rect">
            <a:avLst/>
          </a:prstGeom>
          <a:solidFill>
            <a:schemeClr val="accent1">
              <a:alpha val="97000"/>
            </a:schemeClr>
          </a:solidFill>
          <a:ln w="6350" cmpd="sng">
            <a:noFill/>
          </a:ln>
          <a:effectLst/>
        </p:spPr>
        <p:style>
          <a:lnRef idx="1">
            <a:schemeClr val="accent1"/>
          </a:lnRef>
          <a:fillRef idx="3">
            <a:schemeClr val="accent1"/>
          </a:fillRef>
          <a:effectRef idx="2">
            <a:schemeClr val="accent1"/>
          </a:effectRef>
          <a:fontRef idx="minor">
            <a:schemeClr val="lt1"/>
          </a:fontRef>
        </p:style>
      </p:sp>
      <p:sp>
        <p:nvSpPr>
          <p:cNvPr id="2" name="Title 1">
            <a:extLst>
              <a:ext uri="{FF2B5EF4-FFF2-40B4-BE49-F238E27FC236}">
                <a16:creationId xmlns:a16="http://schemas.microsoft.com/office/drawing/2014/main" id="{C02C5318-1A1E-49D0-B2E2-A4B0FA9E8A40}"/>
              </a:ext>
            </a:extLst>
          </p:cNvPr>
          <p:cNvSpPr>
            <a:spLocks noGrp="1"/>
          </p:cNvSpPr>
          <p:nvPr>
            <p:ph type="ctrTitle"/>
          </p:nvPr>
        </p:nvSpPr>
        <p:spPr>
          <a:xfrm>
            <a:off x="446534" y="3960631"/>
            <a:ext cx="11195536" cy="2129084"/>
          </a:xfrm>
        </p:spPr>
        <p:txBody>
          <a:bodyPr>
            <a:noAutofit/>
          </a:bodyPr>
          <a:lstStyle/>
          <a:p>
            <a:r>
              <a:rPr lang="en-US" sz="2800" b="1" dirty="0">
                <a:solidFill>
                  <a:schemeClr val="bg1"/>
                </a:solidFill>
                <a:latin typeface="Calibri" panose="020F0502020204030204" pitchFamily="34" charset="0"/>
                <a:ea typeface="Calibri" panose="020F0502020204030204" pitchFamily="34" charset="0"/>
                <a:cs typeface="Calibri" panose="020F0502020204030204" pitchFamily="34" charset="0"/>
              </a:rPr>
              <a:t>Ethical Alignment of Small Language Models Using the ETHICS Dataset and Knowledge Distillation from Large Language Models.</a:t>
            </a:r>
          </a:p>
        </p:txBody>
      </p:sp>
      <p:sp>
        <p:nvSpPr>
          <p:cNvPr id="3" name="Subtitle 2">
            <a:extLst>
              <a:ext uri="{FF2B5EF4-FFF2-40B4-BE49-F238E27FC236}">
                <a16:creationId xmlns:a16="http://schemas.microsoft.com/office/drawing/2014/main" id="{48B6CF59-4E5B-494D-A2F7-97ADD01E6497}"/>
              </a:ext>
            </a:extLst>
          </p:cNvPr>
          <p:cNvSpPr>
            <a:spLocks noGrp="1"/>
          </p:cNvSpPr>
          <p:nvPr>
            <p:ph type="subTitle" idx="1"/>
          </p:nvPr>
        </p:nvSpPr>
        <p:spPr>
          <a:xfrm>
            <a:off x="513864" y="6297105"/>
            <a:ext cx="11060876" cy="93459"/>
          </a:xfrm>
        </p:spPr>
        <p:txBody>
          <a:bodyPr>
            <a:normAutofit fontScale="25000" lnSpcReduction="20000"/>
          </a:bodyPr>
          <a:lstStyle/>
          <a:p>
            <a:endParaRPr lang="en-US" dirty="0">
              <a:solidFill>
                <a:srgbClr val="7CEBFF"/>
              </a:solidFill>
            </a:endParaRPr>
          </a:p>
        </p:txBody>
      </p:sp>
    </p:spTree>
    <p:extLst>
      <p:ext uri="{BB962C8B-B14F-4D97-AF65-F5344CB8AC3E}">
        <p14:creationId xmlns:p14="http://schemas.microsoft.com/office/powerpoint/2010/main" val="14877007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3480AE5-31F3-5172-880C-EABB6781F0B3}"/>
            </a:ext>
          </a:extLst>
        </p:cNvPr>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9A38722D-EA15-E040-1C8C-F70C0B4BC5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7" name="Picture 6" descr="Digital Connections">
            <a:extLst>
              <a:ext uri="{FF2B5EF4-FFF2-40B4-BE49-F238E27FC236}">
                <a16:creationId xmlns:a16="http://schemas.microsoft.com/office/drawing/2014/main" id="{3D89C2E5-CA28-C980-8A29-28A5B3A1F3DD}"/>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l="13265" t="9091" r="3502" b="-1"/>
          <a:stretch/>
        </p:blipFill>
        <p:spPr>
          <a:xfrm>
            <a:off x="20" y="10"/>
            <a:ext cx="12191980" cy="6857990"/>
          </a:xfrm>
          <a:prstGeom prst="rect">
            <a:avLst/>
          </a:prstGeom>
        </p:spPr>
      </p:pic>
      <p:grpSp>
        <p:nvGrpSpPr>
          <p:cNvPr id="17" name="Group 16">
            <a:extLst>
              <a:ext uri="{FF2B5EF4-FFF2-40B4-BE49-F238E27FC236}">
                <a16:creationId xmlns:a16="http://schemas.microsoft.com/office/drawing/2014/main" id="{999C5BB1-98F3-C44D-F29E-5373C0DEAC0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46534" y="453643"/>
            <a:ext cx="11298933" cy="98554"/>
            <a:chOff x="446534" y="453643"/>
            <a:chExt cx="11298933" cy="98554"/>
          </a:xfrm>
        </p:grpSpPr>
        <p:sp>
          <p:nvSpPr>
            <p:cNvPr id="18" name="Rectangle 17">
              <a:extLst>
                <a:ext uri="{FF2B5EF4-FFF2-40B4-BE49-F238E27FC236}">
                  <a16:creationId xmlns:a16="http://schemas.microsoft.com/office/drawing/2014/main" id="{B7317D34-DAEA-A831-6C7C-55702C3915F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9" name="Rectangle 18">
              <a:extLst>
                <a:ext uri="{FF2B5EF4-FFF2-40B4-BE49-F238E27FC236}">
                  <a16:creationId xmlns:a16="http://schemas.microsoft.com/office/drawing/2014/main" id="{356750B0-847D-C92C-887B-D27DA76413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sp>
        <p:sp>
          <p:nvSpPr>
            <p:cNvPr id="20" name="Rectangle 19">
              <a:extLst>
                <a:ext uri="{FF2B5EF4-FFF2-40B4-BE49-F238E27FC236}">
                  <a16:creationId xmlns:a16="http://schemas.microsoft.com/office/drawing/2014/main" id="{811877B6-E4AA-998A-217C-AE6CD9CFE1E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grpSp>
      <p:sp>
        <p:nvSpPr>
          <p:cNvPr id="22" name="Rectangle 21">
            <a:extLst>
              <a:ext uri="{FF2B5EF4-FFF2-40B4-BE49-F238E27FC236}">
                <a16:creationId xmlns:a16="http://schemas.microsoft.com/office/drawing/2014/main" id="{8AA52163-4B4A-928F-CF53-405A34CC62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8732" y="4428067"/>
            <a:ext cx="11260667" cy="1962497"/>
          </a:xfrm>
          <a:prstGeom prst="rect">
            <a:avLst/>
          </a:prstGeom>
          <a:solidFill>
            <a:schemeClr val="accent1">
              <a:alpha val="97000"/>
            </a:schemeClr>
          </a:solidFill>
          <a:ln w="6350" cmpd="sng">
            <a:noFill/>
          </a:ln>
          <a:effectLst/>
        </p:spPr>
        <p:style>
          <a:lnRef idx="1">
            <a:schemeClr val="accent1"/>
          </a:lnRef>
          <a:fillRef idx="3">
            <a:schemeClr val="accent1"/>
          </a:fillRef>
          <a:effectRef idx="2">
            <a:schemeClr val="accent1"/>
          </a:effectRef>
          <a:fontRef idx="minor">
            <a:schemeClr val="lt1"/>
          </a:fontRef>
        </p:style>
      </p:sp>
      <p:sp>
        <p:nvSpPr>
          <p:cNvPr id="2" name="Title 1">
            <a:extLst>
              <a:ext uri="{FF2B5EF4-FFF2-40B4-BE49-F238E27FC236}">
                <a16:creationId xmlns:a16="http://schemas.microsoft.com/office/drawing/2014/main" id="{953DFF3C-A1BE-51A5-6268-D8A8EDA8DCE2}"/>
              </a:ext>
            </a:extLst>
          </p:cNvPr>
          <p:cNvSpPr>
            <a:spLocks noGrp="1"/>
          </p:cNvSpPr>
          <p:nvPr>
            <p:ph type="ctrTitle"/>
          </p:nvPr>
        </p:nvSpPr>
        <p:spPr>
          <a:xfrm>
            <a:off x="446534" y="4431623"/>
            <a:ext cx="11195536" cy="2082299"/>
          </a:xfrm>
        </p:spPr>
        <p:txBody>
          <a:bodyPr numCol="1">
            <a:noAutofit/>
          </a:bodyPr>
          <a:lstStyle/>
          <a:p>
            <a:pPr algn="r"/>
            <a:r>
              <a:rPr lang="en-US" sz="2200" b="1" dirty="0">
                <a:solidFill>
                  <a:schemeClr val="bg1"/>
                </a:solidFill>
                <a:latin typeface="Calibri" panose="020F0502020204030204" pitchFamily="34" charset="0"/>
                <a:ea typeface="Calibri" panose="020F0502020204030204" pitchFamily="34" charset="0"/>
                <a:cs typeface="Calibri" panose="020F0502020204030204" pitchFamily="34" charset="0"/>
              </a:rPr>
              <a:t>AMANULLAH AHSAN 2021769642</a:t>
            </a:r>
            <a:br>
              <a:rPr lang="en-US" sz="2200" b="1" dirty="0">
                <a:solidFill>
                  <a:schemeClr val="bg1"/>
                </a:solidFill>
                <a:latin typeface="Calibri" panose="020F0502020204030204" pitchFamily="34" charset="0"/>
                <a:ea typeface="Calibri" panose="020F0502020204030204" pitchFamily="34" charset="0"/>
                <a:cs typeface="Calibri" panose="020F0502020204030204" pitchFamily="34" charset="0"/>
              </a:rPr>
            </a:br>
            <a:r>
              <a:rPr lang="en-US" sz="2200" b="1" dirty="0">
                <a:solidFill>
                  <a:schemeClr val="bg1"/>
                </a:solidFill>
                <a:latin typeface="Calibri" panose="020F0502020204030204" pitchFamily="34" charset="0"/>
                <a:ea typeface="Calibri" panose="020F0502020204030204" pitchFamily="34" charset="0"/>
                <a:cs typeface="Calibri" panose="020F0502020204030204" pitchFamily="34" charset="0"/>
              </a:rPr>
              <a:t>Taskin Ahmed </a:t>
            </a:r>
            <a:r>
              <a:rPr lang="en-US" sz="2200" b="1" dirty="0" err="1">
                <a:solidFill>
                  <a:schemeClr val="bg1"/>
                </a:solidFill>
                <a:latin typeface="Calibri" panose="020F0502020204030204" pitchFamily="34" charset="0"/>
                <a:ea typeface="Calibri" panose="020F0502020204030204" pitchFamily="34" charset="0"/>
                <a:cs typeface="Calibri" panose="020F0502020204030204" pitchFamily="34" charset="0"/>
              </a:rPr>
              <a:t>Prottoy</a:t>
            </a:r>
            <a:r>
              <a:rPr lang="en-US" sz="2200" b="1" dirty="0">
                <a:solidFill>
                  <a:schemeClr val="bg1"/>
                </a:solidFill>
                <a:latin typeface="Calibri" panose="020F0502020204030204" pitchFamily="34" charset="0"/>
                <a:ea typeface="Calibri" panose="020F0502020204030204" pitchFamily="34" charset="0"/>
                <a:cs typeface="Calibri" panose="020F0502020204030204" pitchFamily="34" charset="0"/>
              </a:rPr>
              <a:t> 2031669642</a:t>
            </a:r>
            <a:br>
              <a:rPr lang="en-US" sz="2200" b="1" dirty="0">
                <a:solidFill>
                  <a:schemeClr val="bg1"/>
                </a:solidFill>
                <a:latin typeface="Calibri" panose="020F0502020204030204" pitchFamily="34" charset="0"/>
                <a:ea typeface="Calibri" panose="020F0502020204030204" pitchFamily="34" charset="0"/>
                <a:cs typeface="Calibri" panose="020F0502020204030204" pitchFamily="34" charset="0"/>
              </a:rPr>
            </a:br>
            <a:r>
              <a:rPr lang="en-US" sz="2200" b="1" dirty="0">
                <a:solidFill>
                  <a:schemeClr val="bg1"/>
                </a:solidFill>
                <a:latin typeface="Calibri" panose="020F0502020204030204" pitchFamily="34" charset="0"/>
                <a:ea typeface="Calibri" panose="020F0502020204030204" pitchFamily="34" charset="0"/>
                <a:cs typeface="Calibri" panose="020F0502020204030204" pitchFamily="34" charset="0"/>
              </a:rPr>
              <a:t>Atikur Rahman SHOHAG 2021746642</a:t>
            </a:r>
            <a:br>
              <a:rPr lang="en-US" sz="2200" b="1" dirty="0">
                <a:solidFill>
                  <a:schemeClr val="bg1"/>
                </a:solidFill>
                <a:latin typeface="Calibri" panose="020F0502020204030204" pitchFamily="34" charset="0"/>
                <a:ea typeface="Calibri" panose="020F0502020204030204" pitchFamily="34" charset="0"/>
                <a:cs typeface="Calibri" panose="020F0502020204030204" pitchFamily="34" charset="0"/>
              </a:rPr>
            </a:br>
            <a:r>
              <a:rPr lang="en-US" sz="2200" b="1" dirty="0">
                <a:solidFill>
                  <a:schemeClr val="bg1"/>
                </a:solidFill>
                <a:latin typeface="Calibri" panose="020F0502020204030204" pitchFamily="34" charset="0"/>
                <a:ea typeface="Calibri" panose="020F0502020204030204" pitchFamily="34" charset="0"/>
                <a:cs typeface="Calibri" panose="020F0502020204030204" pitchFamily="34" charset="0"/>
              </a:rPr>
              <a:t>AFSANA AHMED SHAMMI 2021973642</a:t>
            </a:r>
            <a:br>
              <a:rPr lang="en-US" sz="2200" b="1" dirty="0">
                <a:solidFill>
                  <a:schemeClr val="bg1"/>
                </a:solidFill>
                <a:latin typeface="Calibri" panose="020F0502020204030204" pitchFamily="34" charset="0"/>
                <a:ea typeface="Calibri" panose="020F0502020204030204" pitchFamily="34" charset="0"/>
                <a:cs typeface="Calibri" panose="020F0502020204030204" pitchFamily="34" charset="0"/>
              </a:rPr>
            </a:br>
            <a:r>
              <a:rPr lang="en-US" sz="2200" b="1" dirty="0">
                <a:solidFill>
                  <a:schemeClr val="bg1"/>
                </a:solidFill>
                <a:latin typeface="Calibri" panose="020F0502020204030204" pitchFamily="34" charset="0"/>
                <a:ea typeface="Calibri" panose="020F0502020204030204" pitchFamily="34" charset="0"/>
                <a:cs typeface="Calibri" panose="020F0502020204030204" pitchFamily="34" charset="0"/>
              </a:rPr>
              <a:t>SURAIYA AKTER 2022623642</a:t>
            </a:r>
            <a:br>
              <a:rPr lang="en-US" sz="2000" b="1" dirty="0">
                <a:solidFill>
                  <a:schemeClr val="bg1"/>
                </a:solidFill>
                <a:latin typeface="Calibri" panose="020F0502020204030204" pitchFamily="34" charset="0"/>
                <a:ea typeface="Calibri" panose="020F0502020204030204" pitchFamily="34" charset="0"/>
                <a:cs typeface="Calibri" panose="020F0502020204030204" pitchFamily="34" charset="0"/>
              </a:rPr>
            </a:br>
            <a:endParaRPr lang="en-US" sz="2000" b="1" dirty="0">
              <a:solidFill>
                <a:schemeClr val="bg1"/>
              </a:solidFill>
              <a:latin typeface="Calibri" panose="020F0502020204030204" pitchFamily="34" charset="0"/>
              <a:ea typeface="Calibri" panose="020F0502020204030204" pitchFamily="34" charset="0"/>
              <a:cs typeface="Calibri" panose="020F0502020204030204" pitchFamily="34" charset="0"/>
            </a:endParaRPr>
          </a:p>
        </p:txBody>
      </p:sp>
      <p:sp>
        <p:nvSpPr>
          <p:cNvPr id="3" name="Subtitle 2">
            <a:extLst>
              <a:ext uri="{FF2B5EF4-FFF2-40B4-BE49-F238E27FC236}">
                <a16:creationId xmlns:a16="http://schemas.microsoft.com/office/drawing/2014/main" id="{4AFB3DF7-AC56-31B0-7ABE-37238C90D9E5}"/>
              </a:ext>
            </a:extLst>
          </p:cNvPr>
          <p:cNvSpPr>
            <a:spLocks noGrp="1"/>
          </p:cNvSpPr>
          <p:nvPr>
            <p:ph type="subTitle" idx="1"/>
          </p:nvPr>
        </p:nvSpPr>
        <p:spPr>
          <a:xfrm>
            <a:off x="549930" y="6297104"/>
            <a:ext cx="11024810" cy="93457"/>
          </a:xfrm>
        </p:spPr>
        <p:txBody>
          <a:bodyPr>
            <a:normAutofit fontScale="25000" lnSpcReduction="20000"/>
          </a:bodyPr>
          <a:lstStyle/>
          <a:p>
            <a:endParaRPr lang="en-US" dirty="0">
              <a:solidFill>
                <a:srgbClr val="7CEBFF"/>
              </a:solidFill>
            </a:endParaRPr>
          </a:p>
        </p:txBody>
      </p:sp>
    </p:spTree>
    <p:extLst>
      <p:ext uri="{BB962C8B-B14F-4D97-AF65-F5344CB8AC3E}">
        <p14:creationId xmlns:p14="http://schemas.microsoft.com/office/powerpoint/2010/main" val="41189246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DB937D5C-4411-A465-2072-88E6388893F0}"/>
              </a:ext>
            </a:extLst>
          </p:cNvPr>
          <p:cNvSpPr>
            <a:spLocks noGrp="1"/>
          </p:cNvSpPr>
          <p:nvPr>
            <p:ph type="title"/>
          </p:nvPr>
        </p:nvSpPr>
        <p:spPr>
          <a:xfrm>
            <a:off x="581192" y="702156"/>
            <a:ext cx="11029616" cy="721291"/>
          </a:xfrm>
        </p:spPr>
        <p:txBody>
          <a:bodyPr>
            <a:normAutofit/>
          </a:bodyPr>
          <a:lstStyle/>
          <a:p>
            <a:r>
              <a:rPr lang="en-US" b="1" dirty="0"/>
              <a:t>Introduction</a:t>
            </a:r>
          </a:p>
        </p:txBody>
      </p:sp>
      <p:sp>
        <p:nvSpPr>
          <p:cNvPr id="5" name="Content Placeholder 4">
            <a:extLst>
              <a:ext uri="{FF2B5EF4-FFF2-40B4-BE49-F238E27FC236}">
                <a16:creationId xmlns:a16="http://schemas.microsoft.com/office/drawing/2014/main" id="{92461CCC-5953-942E-9544-7D46E8B97B7B}"/>
              </a:ext>
            </a:extLst>
          </p:cNvPr>
          <p:cNvSpPr>
            <a:spLocks noGrp="1"/>
          </p:cNvSpPr>
          <p:nvPr>
            <p:ph idx="1"/>
          </p:nvPr>
        </p:nvSpPr>
        <p:spPr>
          <a:xfrm>
            <a:off x="468070" y="1850558"/>
            <a:ext cx="11277728" cy="4682217"/>
          </a:xfrm>
        </p:spPr>
        <p:txBody>
          <a:bodyPr>
            <a:normAutofit/>
          </a:bodyPr>
          <a:lstStyle/>
          <a:p>
            <a:pPr>
              <a:buFont typeface="Wingdings" panose="05000000000000000000" pitchFamily="2" charset="2"/>
              <a:buChar char="q"/>
            </a:pPr>
            <a:r>
              <a:rPr lang="en-US" sz="2100" dirty="0"/>
              <a:t>As artificial intelligence shapes critical domains like healthcare, education, and governance, ensuring its ethical alignment is essential to prevent harm and promote fairness. Large language models offer advanced ethical reasoning but demand heavy computational resources, making them inaccessible for low-resource settings. Our project addresses this challenge by enhancing small language models—like </a:t>
            </a:r>
            <a:r>
              <a:rPr lang="en-US" sz="2100" dirty="0" err="1"/>
              <a:t>LLaMA</a:t>
            </a:r>
            <a:r>
              <a:rPr lang="en-US" sz="2100" dirty="0"/>
              <a:t> 3, Gemma 2, and Phi 3.5—to deliver robust ethical decision-making with efficiency and scalability.</a:t>
            </a:r>
          </a:p>
          <a:p>
            <a:pPr>
              <a:buFont typeface="Wingdings" panose="05000000000000000000" pitchFamily="2" charset="2"/>
              <a:buChar char="q"/>
            </a:pPr>
            <a:r>
              <a:rPr lang="en-US" sz="2100" dirty="0"/>
              <a:t>We propose a groundbreaking </a:t>
            </a:r>
            <a:r>
              <a:rPr lang="en-US" sz="2100" b="1" dirty="0"/>
              <a:t>Reverse Knowledge Distillation</a:t>
            </a:r>
            <a:r>
              <a:rPr lang="en-US" sz="2100" dirty="0"/>
              <a:t> framework, fine-tuning compact models with the ETHICS dataset and enabling them to guide larger models in a bidirectional learning process. Our experiments demonstrate significant performance gains, with models achieving up to 85% accuracy in ethical reasoning, rivaling larger counterparts while consuming fewer resources. This work paves the way for sustainable, inclusive AI that aligns with human values across diverse applications.</a:t>
            </a:r>
          </a:p>
        </p:txBody>
      </p:sp>
    </p:spTree>
    <p:extLst>
      <p:ext uri="{BB962C8B-B14F-4D97-AF65-F5344CB8AC3E}">
        <p14:creationId xmlns:p14="http://schemas.microsoft.com/office/powerpoint/2010/main" val="17033425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2BEA837-BCE0-1DC3-9CD0-5499399044C6}"/>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A6DE1B43-5EC1-A99B-2EB8-CC38443F5B28}"/>
              </a:ext>
            </a:extLst>
          </p:cNvPr>
          <p:cNvSpPr>
            <a:spLocks noGrp="1"/>
          </p:cNvSpPr>
          <p:nvPr>
            <p:ph type="title"/>
          </p:nvPr>
        </p:nvSpPr>
        <p:spPr>
          <a:xfrm>
            <a:off x="581192" y="593890"/>
            <a:ext cx="11029616" cy="1206630"/>
          </a:xfrm>
        </p:spPr>
        <p:txBody>
          <a:bodyPr>
            <a:normAutofit/>
          </a:bodyPr>
          <a:lstStyle/>
          <a:p>
            <a:r>
              <a:rPr lang="en-US" sz="2600" b="1" dirty="0">
                <a:effectLst/>
              </a:rPr>
              <a:t>Background</a:t>
            </a:r>
            <a:br>
              <a:rPr lang="en-US" sz="2800" dirty="0"/>
            </a:br>
            <a:endParaRPr lang="en-US" dirty="0"/>
          </a:p>
        </p:txBody>
      </p:sp>
      <p:sp>
        <p:nvSpPr>
          <p:cNvPr id="2" name="Content Placeholder 1">
            <a:extLst>
              <a:ext uri="{FF2B5EF4-FFF2-40B4-BE49-F238E27FC236}">
                <a16:creationId xmlns:a16="http://schemas.microsoft.com/office/drawing/2014/main" id="{E984FFB2-AA7B-6C19-40C7-5115091272BC}"/>
              </a:ext>
            </a:extLst>
          </p:cNvPr>
          <p:cNvSpPr>
            <a:spLocks noGrp="1" noChangeArrowheads="1"/>
          </p:cNvSpPr>
          <p:nvPr>
            <p:ph idx="1"/>
          </p:nvPr>
        </p:nvSpPr>
        <p:spPr bwMode="auto">
          <a:xfrm>
            <a:off x="452487" y="2269151"/>
            <a:ext cx="11291536" cy="2810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800100" lvl="1" indent="-342900">
              <a:lnSpc>
                <a:spcPct val="150000"/>
              </a:lnSpc>
              <a:buFont typeface="Wingdings" panose="05000000000000000000" pitchFamily="2" charset="2"/>
              <a:buChar char="q"/>
            </a:pPr>
            <a:r>
              <a:rPr lang="en-US" sz="2100" dirty="0"/>
              <a:t>AI is transforming healthcare, education, and governance with advanced language models.</a:t>
            </a:r>
          </a:p>
          <a:p>
            <a:pPr marL="800100" lvl="1" indent="-342900">
              <a:lnSpc>
                <a:spcPct val="150000"/>
              </a:lnSpc>
              <a:buFont typeface="Wingdings" panose="05000000000000000000" pitchFamily="2" charset="2"/>
              <a:buChar char="q"/>
            </a:pPr>
            <a:r>
              <a:rPr lang="en-US" sz="2100" dirty="0"/>
              <a:t>Large models (e.g., GPT-4) excel but are resource-heavy, limiting accessibility.</a:t>
            </a:r>
          </a:p>
          <a:p>
            <a:pPr marL="800100" lvl="1" indent="-342900">
              <a:lnSpc>
                <a:spcPct val="150000"/>
              </a:lnSpc>
              <a:buFont typeface="Wingdings" panose="05000000000000000000" pitchFamily="2" charset="2"/>
              <a:buChar char="q"/>
            </a:pPr>
            <a:r>
              <a:rPr lang="en-US" sz="2100" dirty="0"/>
              <a:t>Small language models (SLMs) offer efficiency but lack ethical sophistication.</a:t>
            </a:r>
          </a:p>
          <a:p>
            <a:pPr marL="800100" lvl="1" indent="-342900">
              <a:lnSpc>
                <a:spcPct val="150000"/>
              </a:lnSpc>
              <a:buFont typeface="Wingdings" panose="05000000000000000000" pitchFamily="2" charset="2"/>
              <a:buChar char="q"/>
            </a:pPr>
            <a:r>
              <a:rPr lang="en-US" sz="2100" dirty="0"/>
              <a:t>The ETHICS dataset and knowledge distillation enable scalable, ethical AI solutions.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Arial" panose="020B0604020202020204" pitchFamily="34" charset="0"/>
              </a:rPr>
              <a:t>	</a:t>
            </a:r>
          </a:p>
        </p:txBody>
      </p:sp>
    </p:spTree>
    <p:extLst>
      <p:ext uri="{BB962C8B-B14F-4D97-AF65-F5344CB8AC3E}">
        <p14:creationId xmlns:p14="http://schemas.microsoft.com/office/powerpoint/2010/main" val="25263191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1E8BE45-8B2C-B91B-8C9D-73E420E5F41E}"/>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A501569E-1DCB-33ED-BE01-107B9FF145AF}"/>
              </a:ext>
            </a:extLst>
          </p:cNvPr>
          <p:cNvSpPr>
            <a:spLocks noGrp="1"/>
          </p:cNvSpPr>
          <p:nvPr>
            <p:ph type="title"/>
          </p:nvPr>
        </p:nvSpPr>
        <p:spPr>
          <a:xfrm>
            <a:off x="581192" y="593890"/>
            <a:ext cx="11029616" cy="1206630"/>
          </a:xfrm>
        </p:spPr>
        <p:txBody>
          <a:bodyPr>
            <a:normAutofit/>
          </a:bodyPr>
          <a:lstStyle/>
          <a:p>
            <a:r>
              <a:rPr lang="en-US" sz="2600" b="1" dirty="0">
                <a:effectLst/>
              </a:rPr>
              <a:t>Research Gap</a:t>
            </a:r>
            <a:br>
              <a:rPr lang="en-US" sz="2800" dirty="0"/>
            </a:br>
            <a:endParaRPr lang="en-US" dirty="0"/>
          </a:p>
        </p:txBody>
      </p:sp>
      <p:sp>
        <p:nvSpPr>
          <p:cNvPr id="2" name="Content Placeholder 1">
            <a:extLst>
              <a:ext uri="{FF2B5EF4-FFF2-40B4-BE49-F238E27FC236}">
                <a16:creationId xmlns:a16="http://schemas.microsoft.com/office/drawing/2014/main" id="{D43BF467-19B7-8DF8-6693-E867705ECC4A}"/>
              </a:ext>
            </a:extLst>
          </p:cNvPr>
          <p:cNvSpPr>
            <a:spLocks noGrp="1" noChangeArrowheads="1"/>
          </p:cNvSpPr>
          <p:nvPr>
            <p:ph idx="1"/>
          </p:nvPr>
        </p:nvSpPr>
        <p:spPr bwMode="auto">
          <a:xfrm>
            <a:off x="452487" y="3489484"/>
            <a:ext cx="1129153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Arial" panose="020B0604020202020204" pitchFamily="34" charset="0"/>
              </a:rPr>
              <a:t>	</a:t>
            </a:r>
          </a:p>
        </p:txBody>
      </p:sp>
      <p:sp>
        <p:nvSpPr>
          <p:cNvPr id="5" name="Rectangle 3">
            <a:extLst>
              <a:ext uri="{FF2B5EF4-FFF2-40B4-BE49-F238E27FC236}">
                <a16:creationId xmlns:a16="http://schemas.microsoft.com/office/drawing/2014/main" id="{4607BD47-A959-8CE0-45A3-2F5437BB189C}"/>
              </a:ext>
            </a:extLst>
          </p:cNvPr>
          <p:cNvSpPr>
            <a:spLocks noChangeArrowheads="1"/>
          </p:cNvSpPr>
          <p:nvPr/>
        </p:nvSpPr>
        <p:spPr bwMode="auto">
          <a:xfrm>
            <a:off x="447977" y="1606998"/>
            <a:ext cx="11293791" cy="46721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342900" marR="0" lvl="0" indent="-342900" algn="l"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sz="2100" b="0" i="0" u="none" strike="noStrike" cap="none" normalizeH="0" baseline="0" dirty="0">
                <a:ln>
                  <a:noFill/>
                </a:ln>
                <a:solidFill>
                  <a:schemeClr val="tx1"/>
                </a:solidFill>
                <a:effectLst/>
                <a:latin typeface="Arial" panose="020B0604020202020204" pitchFamily="34" charset="0"/>
              </a:rPr>
              <a:t> SLMs lag in ethical reasoning compared to LLMs. </a:t>
            </a:r>
          </a:p>
          <a:p>
            <a:pPr marL="342900" marR="0" lvl="0" indent="-342900" algn="l" defTabSz="914400" rtl="0" eaLnBrk="0" fontAlgn="base" latinLnBrk="0" hangingPunct="0">
              <a:lnSpc>
                <a:spcPct val="150000"/>
              </a:lnSpc>
              <a:spcBef>
                <a:spcPct val="0"/>
              </a:spcBef>
              <a:spcAft>
                <a:spcPct val="0"/>
              </a:spcAft>
              <a:buClrTx/>
              <a:buSzTx/>
              <a:buFont typeface="Wingdings" panose="05000000000000000000" pitchFamily="2" charset="2"/>
              <a:buChar char="q"/>
              <a:tabLst/>
            </a:pPr>
            <a:endParaRPr kumimoji="0" lang="en-US" altLang="en-US" sz="2100" b="0" i="0" u="none" strike="noStrike" cap="none" normalizeH="0" baseline="0" dirty="0">
              <a:ln>
                <a:noFill/>
              </a:ln>
              <a:solidFill>
                <a:schemeClr val="tx1"/>
              </a:solidFill>
              <a:effectLst/>
              <a:latin typeface="Arial" panose="020B0604020202020204" pitchFamily="34" charset="0"/>
            </a:endParaRPr>
          </a:p>
          <a:p>
            <a:pPr marL="342900" marR="0" lvl="0" indent="-342900" algn="l"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sz="2100" b="0" i="0" u="none" strike="noStrike" cap="none" normalizeH="0" baseline="0" dirty="0">
                <a:ln>
                  <a:noFill/>
                </a:ln>
                <a:solidFill>
                  <a:schemeClr val="tx1"/>
                </a:solidFill>
                <a:effectLst/>
                <a:latin typeface="Arial" panose="020B0604020202020204" pitchFamily="34" charset="0"/>
              </a:rPr>
              <a:t> Knowledge distillation underexplored for ethics; reverse distillation is novel.</a:t>
            </a:r>
          </a:p>
          <a:p>
            <a:pPr marR="0" lvl="0" algn="l" defTabSz="914400" rtl="0" eaLnBrk="0" fontAlgn="base" latinLnBrk="0" hangingPunct="0">
              <a:lnSpc>
                <a:spcPct val="150000"/>
              </a:lnSpc>
              <a:spcBef>
                <a:spcPct val="0"/>
              </a:spcBef>
              <a:spcAft>
                <a:spcPct val="0"/>
              </a:spcAft>
              <a:buClrTx/>
              <a:buSzTx/>
              <a:tabLst/>
            </a:pPr>
            <a:endParaRPr kumimoji="0" lang="en-US" altLang="en-US" sz="2100" b="0" i="0" u="none" strike="noStrike" cap="none" normalizeH="0" baseline="0" dirty="0">
              <a:ln>
                <a:noFill/>
              </a:ln>
              <a:solidFill>
                <a:schemeClr val="tx1"/>
              </a:solidFill>
              <a:effectLst/>
              <a:latin typeface="Arial" panose="020B0604020202020204" pitchFamily="34" charset="0"/>
            </a:endParaRPr>
          </a:p>
          <a:p>
            <a:pPr marL="342900" marR="0" lvl="0" indent="-342900" algn="l"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sz="2100" b="0" i="0" u="none" strike="noStrike" cap="none" normalizeH="0" baseline="0" dirty="0">
                <a:ln>
                  <a:noFill/>
                </a:ln>
                <a:solidFill>
                  <a:schemeClr val="tx1"/>
                </a:solidFill>
                <a:effectLst/>
                <a:latin typeface="Arial" panose="020B0604020202020204" pitchFamily="34" charset="0"/>
              </a:rPr>
              <a:t> Limited generalization across ethical domains and cultures. </a:t>
            </a:r>
          </a:p>
          <a:p>
            <a:pPr marL="342900" marR="0" lvl="0" indent="-342900" algn="l" defTabSz="914400" rtl="0" eaLnBrk="0" fontAlgn="base" latinLnBrk="0" hangingPunct="0">
              <a:lnSpc>
                <a:spcPct val="150000"/>
              </a:lnSpc>
              <a:spcBef>
                <a:spcPct val="0"/>
              </a:spcBef>
              <a:spcAft>
                <a:spcPct val="0"/>
              </a:spcAft>
              <a:buClrTx/>
              <a:buSzTx/>
              <a:buFont typeface="Wingdings" panose="05000000000000000000" pitchFamily="2" charset="2"/>
              <a:buChar char="q"/>
              <a:tabLst/>
            </a:pPr>
            <a:endParaRPr kumimoji="0" lang="en-US" altLang="en-US" sz="2100" b="0" i="0" u="none" strike="noStrike" cap="none" normalizeH="0" baseline="0" dirty="0">
              <a:ln>
                <a:noFill/>
              </a:ln>
              <a:solidFill>
                <a:schemeClr val="tx1"/>
              </a:solidFill>
              <a:effectLst/>
              <a:latin typeface="Arial" panose="020B0604020202020204" pitchFamily="34" charset="0"/>
            </a:endParaRPr>
          </a:p>
          <a:p>
            <a:pPr marL="342900" marR="0" lvl="0" indent="-342900" algn="l"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sz="2100" b="0" i="0" u="none" strike="noStrike" cap="none" normalizeH="0" baseline="0" dirty="0">
                <a:ln>
                  <a:noFill/>
                </a:ln>
                <a:solidFill>
                  <a:schemeClr val="tx1"/>
                </a:solidFill>
                <a:effectLst/>
                <a:latin typeface="Arial" panose="020B0604020202020204" pitchFamily="34" charset="0"/>
              </a:rPr>
              <a:t> Need for sustainable, scalable alignment methods. </a:t>
            </a:r>
          </a:p>
          <a:p>
            <a:pPr marL="342900" marR="0" lvl="0" indent="-342900" algn="l" defTabSz="914400" rtl="0" eaLnBrk="0" fontAlgn="base" latinLnBrk="0" hangingPunct="0">
              <a:lnSpc>
                <a:spcPct val="150000"/>
              </a:lnSpc>
              <a:spcBef>
                <a:spcPct val="0"/>
              </a:spcBef>
              <a:spcAft>
                <a:spcPct val="0"/>
              </a:spcAft>
              <a:buClrTx/>
              <a:buSzTx/>
              <a:buFont typeface="Wingdings" panose="05000000000000000000" pitchFamily="2" charset="2"/>
              <a:buChar char="q"/>
              <a:tabLst/>
            </a:pPr>
            <a:endParaRPr kumimoji="0" lang="en-US" altLang="en-US" sz="2100" b="0" i="0" u="none" strike="noStrike" cap="none" normalizeH="0" baseline="0" dirty="0">
              <a:ln>
                <a:noFill/>
              </a:ln>
              <a:solidFill>
                <a:schemeClr val="tx1"/>
              </a:solidFill>
              <a:effectLst/>
              <a:latin typeface="Arial" panose="020B0604020202020204" pitchFamily="34" charset="0"/>
            </a:endParaRPr>
          </a:p>
          <a:p>
            <a:pPr marL="342900" marR="0" lvl="0" indent="-342900" algn="l"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sz="2100" b="0" i="0" u="none" strike="noStrike" cap="none" normalizeH="0" baseline="0" dirty="0">
                <a:ln>
                  <a:noFill/>
                </a:ln>
                <a:solidFill>
                  <a:schemeClr val="tx1"/>
                </a:solidFill>
                <a:effectLst/>
                <a:latin typeface="Arial" panose="020B0604020202020204" pitchFamily="34" charset="0"/>
              </a:rPr>
              <a:t> Current metrics (accuracy, F1) don’t fully capture ethical nuance.</a:t>
            </a:r>
          </a:p>
        </p:txBody>
      </p:sp>
    </p:spTree>
    <p:extLst>
      <p:ext uri="{BB962C8B-B14F-4D97-AF65-F5344CB8AC3E}">
        <p14:creationId xmlns:p14="http://schemas.microsoft.com/office/powerpoint/2010/main" val="4108187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4083089-44CD-6A3D-CDAC-43B11FBFD311}"/>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3994ACC0-156A-2172-37F2-0157ADA88C3F}"/>
              </a:ext>
            </a:extLst>
          </p:cNvPr>
          <p:cNvSpPr>
            <a:spLocks noGrp="1"/>
          </p:cNvSpPr>
          <p:nvPr>
            <p:ph type="title"/>
          </p:nvPr>
        </p:nvSpPr>
        <p:spPr>
          <a:xfrm>
            <a:off x="581192" y="593890"/>
            <a:ext cx="11029616" cy="1206630"/>
          </a:xfrm>
        </p:spPr>
        <p:txBody>
          <a:bodyPr>
            <a:normAutofit/>
          </a:bodyPr>
          <a:lstStyle/>
          <a:p>
            <a:r>
              <a:rPr lang="en-US" sz="2800" dirty="0"/>
              <a:t>Our Contribution</a:t>
            </a:r>
            <a:br>
              <a:rPr lang="en-US" sz="2800" dirty="0"/>
            </a:br>
            <a:endParaRPr lang="en-US" dirty="0"/>
          </a:p>
        </p:txBody>
      </p:sp>
      <p:sp>
        <p:nvSpPr>
          <p:cNvPr id="2" name="Content Placeholder 1">
            <a:extLst>
              <a:ext uri="{FF2B5EF4-FFF2-40B4-BE49-F238E27FC236}">
                <a16:creationId xmlns:a16="http://schemas.microsoft.com/office/drawing/2014/main" id="{BD208232-9D7C-D2A6-BE23-9A727CAC4330}"/>
              </a:ext>
            </a:extLst>
          </p:cNvPr>
          <p:cNvSpPr>
            <a:spLocks noGrp="1" noChangeArrowheads="1"/>
          </p:cNvSpPr>
          <p:nvPr>
            <p:ph idx="1"/>
          </p:nvPr>
        </p:nvSpPr>
        <p:spPr bwMode="auto">
          <a:xfrm>
            <a:off x="452487" y="3489484"/>
            <a:ext cx="1129153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Arial" panose="020B0604020202020204" pitchFamily="34" charset="0"/>
              </a:rPr>
              <a:t>	</a:t>
            </a:r>
          </a:p>
        </p:txBody>
      </p:sp>
      <p:sp>
        <p:nvSpPr>
          <p:cNvPr id="3" name="Rectangle 1">
            <a:extLst>
              <a:ext uri="{FF2B5EF4-FFF2-40B4-BE49-F238E27FC236}">
                <a16:creationId xmlns:a16="http://schemas.microsoft.com/office/drawing/2014/main" id="{8C438B8C-F1B6-C2EB-982B-60E050124963}"/>
              </a:ext>
            </a:extLst>
          </p:cNvPr>
          <p:cNvSpPr>
            <a:spLocks noChangeArrowheads="1"/>
          </p:cNvSpPr>
          <p:nvPr/>
        </p:nvSpPr>
        <p:spPr bwMode="auto">
          <a:xfrm>
            <a:off x="447976" y="1930111"/>
            <a:ext cx="11291536" cy="37488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100" b="0" i="0" u="none" strike="noStrike" cap="none" normalizeH="0" baseline="0" dirty="0">
              <a:ln>
                <a:noFill/>
              </a:ln>
              <a:solidFill>
                <a:schemeClr val="tx1"/>
              </a:solidFill>
              <a:effectLst/>
              <a:latin typeface="Arial" panose="020B0604020202020204" pitchFamily="34" charset="0"/>
            </a:endParaRPr>
          </a:p>
          <a:p>
            <a:pPr marL="342900" indent="-342900" defTabSz="914400" eaLnBrk="0" fontAlgn="base" hangingPunct="0">
              <a:lnSpc>
                <a:spcPct val="150000"/>
              </a:lnSpc>
              <a:spcBef>
                <a:spcPct val="0"/>
              </a:spcBef>
              <a:spcAft>
                <a:spcPct val="0"/>
              </a:spcAft>
              <a:buFont typeface="Wingdings" panose="05000000000000000000" pitchFamily="2" charset="2"/>
              <a:buChar char="q"/>
            </a:pPr>
            <a:r>
              <a:rPr kumimoji="0" lang="en-US" altLang="en-US" sz="2100" b="0" i="0" u="none" strike="noStrike" cap="none" normalizeH="0" baseline="0" dirty="0">
                <a:ln>
                  <a:noFill/>
                </a:ln>
                <a:solidFill>
                  <a:schemeClr val="tx1"/>
                </a:solidFill>
                <a:effectLst/>
                <a:latin typeface="Arial" panose="020B0604020202020204" pitchFamily="34" charset="0"/>
              </a:rPr>
              <a:t> Fine-tune SLMs (</a:t>
            </a:r>
            <a:r>
              <a:rPr kumimoji="0" lang="en-US" altLang="en-US" sz="2100" b="0" i="0" u="none" strike="noStrike" cap="none" normalizeH="0" baseline="0" dirty="0" err="1">
                <a:ln>
                  <a:noFill/>
                </a:ln>
                <a:solidFill>
                  <a:schemeClr val="tx1"/>
                </a:solidFill>
                <a:effectLst/>
                <a:latin typeface="Arial" panose="020B0604020202020204" pitchFamily="34" charset="0"/>
              </a:rPr>
              <a:t>LLaMA</a:t>
            </a:r>
            <a:r>
              <a:rPr kumimoji="0" lang="en-US" altLang="en-US" sz="2100" b="0" i="0" u="none" strike="noStrike" cap="none" normalizeH="0" baseline="0" dirty="0">
                <a:ln>
                  <a:noFill/>
                </a:ln>
                <a:solidFill>
                  <a:schemeClr val="tx1"/>
                </a:solidFill>
                <a:effectLst/>
                <a:latin typeface="Arial" panose="020B0604020202020204" pitchFamily="34" charset="0"/>
              </a:rPr>
              <a:t> 3 2B, Gemma 2 2B) with ETHICS dataset for ethical reasoning.</a:t>
            </a:r>
          </a:p>
          <a:p>
            <a:pPr defTabSz="914400" eaLnBrk="0" fontAlgn="base" hangingPunct="0">
              <a:lnSpc>
                <a:spcPct val="150000"/>
              </a:lnSpc>
              <a:spcBef>
                <a:spcPct val="0"/>
              </a:spcBef>
              <a:spcAft>
                <a:spcPct val="0"/>
              </a:spcAft>
            </a:pPr>
            <a:endParaRPr kumimoji="0" lang="en-US" altLang="en-US" sz="2100" b="0" i="0" u="none" strike="noStrike" cap="none" normalizeH="0" baseline="0" dirty="0">
              <a:ln>
                <a:noFill/>
              </a:ln>
              <a:solidFill>
                <a:schemeClr val="tx1"/>
              </a:solidFill>
              <a:effectLst/>
              <a:latin typeface="Arial" panose="020B0604020202020204" pitchFamily="34" charset="0"/>
            </a:endParaRPr>
          </a:p>
          <a:p>
            <a:pPr marL="342900" indent="-342900" defTabSz="914400" eaLnBrk="0" fontAlgn="base" hangingPunct="0">
              <a:lnSpc>
                <a:spcPct val="150000"/>
              </a:lnSpc>
              <a:spcBef>
                <a:spcPct val="0"/>
              </a:spcBef>
              <a:spcAft>
                <a:spcPct val="0"/>
              </a:spcAft>
              <a:buFont typeface="Wingdings" panose="05000000000000000000" pitchFamily="2" charset="2"/>
              <a:buChar char="q"/>
            </a:pPr>
            <a:r>
              <a:rPr kumimoji="0" lang="en-US" altLang="en-US" sz="2100" b="0" i="0" u="none" strike="noStrike" cap="none" normalizeH="0" baseline="0" dirty="0">
                <a:ln>
                  <a:noFill/>
                </a:ln>
                <a:solidFill>
                  <a:schemeClr val="tx1"/>
                </a:solidFill>
                <a:effectLst/>
                <a:latin typeface="Arial" panose="020B0604020202020204" pitchFamily="34" charset="0"/>
              </a:rPr>
              <a:t> Achieve high performance (up to 85% accuracy) with low computational cost. </a:t>
            </a:r>
          </a:p>
          <a:p>
            <a:pPr marL="342900" indent="-342900" defTabSz="914400" eaLnBrk="0" fontAlgn="base" hangingPunct="0">
              <a:lnSpc>
                <a:spcPct val="150000"/>
              </a:lnSpc>
              <a:spcBef>
                <a:spcPct val="0"/>
              </a:spcBef>
              <a:spcAft>
                <a:spcPct val="0"/>
              </a:spcAft>
              <a:buFont typeface="Wingdings" panose="05000000000000000000" pitchFamily="2" charset="2"/>
              <a:buChar char="q"/>
            </a:pPr>
            <a:endParaRPr kumimoji="0" lang="en-US" altLang="en-US" sz="2100" b="0" i="0" u="none" strike="noStrike" cap="none" normalizeH="0" baseline="0" dirty="0">
              <a:ln>
                <a:noFill/>
              </a:ln>
              <a:solidFill>
                <a:schemeClr val="tx1"/>
              </a:solidFill>
              <a:effectLst/>
              <a:latin typeface="Arial" panose="020B0604020202020204" pitchFamily="34" charset="0"/>
            </a:endParaRPr>
          </a:p>
          <a:p>
            <a:pPr marL="342900" indent="-342900" defTabSz="914400" eaLnBrk="0" fontAlgn="base" hangingPunct="0">
              <a:lnSpc>
                <a:spcPct val="150000"/>
              </a:lnSpc>
              <a:spcBef>
                <a:spcPct val="0"/>
              </a:spcBef>
              <a:spcAft>
                <a:spcPct val="0"/>
              </a:spcAft>
              <a:buFont typeface="Wingdings" panose="05000000000000000000" pitchFamily="2" charset="2"/>
              <a:buChar char="q"/>
            </a:pPr>
            <a:r>
              <a:rPr kumimoji="0" lang="en-US" altLang="en-US" sz="2100" b="0" i="0" u="none" strike="noStrike" cap="none" normalizeH="0" baseline="0" dirty="0">
                <a:ln>
                  <a:noFill/>
                </a:ln>
                <a:solidFill>
                  <a:schemeClr val="tx1"/>
                </a:solidFill>
                <a:effectLst/>
                <a:latin typeface="Arial" panose="020B0604020202020204" pitchFamily="34" charset="0"/>
              </a:rPr>
              <a:t> Introduce Reverse Knowledge Distillation to enhance both SLMs and LLMs.</a:t>
            </a:r>
          </a:p>
          <a:p>
            <a:pPr defTabSz="914400" eaLnBrk="0" fontAlgn="base" hangingPunct="0">
              <a:lnSpc>
                <a:spcPct val="150000"/>
              </a:lnSpc>
              <a:spcBef>
                <a:spcPct val="0"/>
              </a:spcBef>
              <a:spcAft>
                <a:spcPct val="0"/>
              </a:spcAft>
            </a:pPr>
            <a:endParaRPr kumimoji="0" lang="en-US" altLang="en-US" sz="2100" b="0" i="0" u="none" strike="noStrike" cap="none" normalizeH="0" baseline="0" dirty="0">
              <a:ln>
                <a:noFill/>
              </a:ln>
              <a:solidFill>
                <a:schemeClr val="tx1"/>
              </a:solidFill>
              <a:effectLst/>
              <a:latin typeface="Arial" panose="020B0604020202020204" pitchFamily="34" charset="0"/>
            </a:endParaRPr>
          </a:p>
          <a:p>
            <a:pPr marL="342900" indent="-342900" defTabSz="914400" eaLnBrk="0" fontAlgn="base" hangingPunct="0">
              <a:lnSpc>
                <a:spcPct val="150000"/>
              </a:lnSpc>
              <a:spcBef>
                <a:spcPct val="0"/>
              </a:spcBef>
              <a:spcAft>
                <a:spcPct val="0"/>
              </a:spcAft>
              <a:buFont typeface="Wingdings" panose="05000000000000000000" pitchFamily="2" charset="2"/>
              <a:buChar char="q"/>
            </a:pPr>
            <a:r>
              <a:rPr kumimoji="0" lang="en-US" altLang="en-US" sz="2100" b="0" i="0" u="none" strike="noStrike" cap="none" normalizeH="0" baseline="0" dirty="0">
                <a:ln>
                  <a:noFill/>
                </a:ln>
                <a:solidFill>
                  <a:schemeClr val="tx1"/>
                </a:solidFill>
                <a:effectLst/>
                <a:latin typeface="Arial" panose="020B0604020202020204" pitchFamily="34" charset="0"/>
              </a:rPr>
              <a:t> Promote sustainable, accessible AI for diverse global applications.</a:t>
            </a:r>
          </a:p>
        </p:txBody>
      </p:sp>
    </p:spTree>
    <p:extLst>
      <p:ext uri="{BB962C8B-B14F-4D97-AF65-F5344CB8AC3E}">
        <p14:creationId xmlns:p14="http://schemas.microsoft.com/office/powerpoint/2010/main" val="33905892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8281354-3AF2-449F-47E7-12D9AC7E5FB9}"/>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89116413-3A94-B008-ABC5-9AE349BE576C}"/>
              </a:ext>
            </a:extLst>
          </p:cNvPr>
          <p:cNvSpPr>
            <a:spLocks noGrp="1"/>
          </p:cNvSpPr>
          <p:nvPr>
            <p:ph type="title"/>
          </p:nvPr>
        </p:nvSpPr>
        <p:spPr>
          <a:xfrm>
            <a:off x="581192" y="593890"/>
            <a:ext cx="11029616" cy="1206630"/>
          </a:xfrm>
        </p:spPr>
        <p:txBody>
          <a:bodyPr>
            <a:normAutofit/>
          </a:bodyPr>
          <a:lstStyle/>
          <a:p>
            <a:r>
              <a:rPr lang="en-US" sz="2800" dirty="0"/>
              <a:t>Objective</a:t>
            </a:r>
            <a:br>
              <a:rPr lang="en-US" sz="2800" dirty="0"/>
            </a:br>
            <a:endParaRPr lang="en-US" dirty="0"/>
          </a:p>
        </p:txBody>
      </p:sp>
      <p:sp>
        <p:nvSpPr>
          <p:cNvPr id="2" name="Content Placeholder 1">
            <a:extLst>
              <a:ext uri="{FF2B5EF4-FFF2-40B4-BE49-F238E27FC236}">
                <a16:creationId xmlns:a16="http://schemas.microsoft.com/office/drawing/2014/main" id="{75FECB0E-6AE3-7EE9-751D-F7F096342789}"/>
              </a:ext>
            </a:extLst>
          </p:cNvPr>
          <p:cNvSpPr>
            <a:spLocks noGrp="1" noChangeArrowheads="1"/>
          </p:cNvSpPr>
          <p:nvPr>
            <p:ph idx="1"/>
          </p:nvPr>
        </p:nvSpPr>
        <p:spPr bwMode="auto">
          <a:xfrm>
            <a:off x="98323" y="2825545"/>
            <a:ext cx="1172093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Arial" panose="020B0604020202020204" pitchFamily="34" charset="0"/>
              </a:rPr>
              <a:t>	</a:t>
            </a:r>
          </a:p>
        </p:txBody>
      </p:sp>
      <p:sp>
        <p:nvSpPr>
          <p:cNvPr id="4" name="Rectangle 1">
            <a:extLst>
              <a:ext uri="{FF2B5EF4-FFF2-40B4-BE49-F238E27FC236}">
                <a16:creationId xmlns:a16="http://schemas.microsoft.com/office/drawing/2014/main" id="{72B4B8E8-C936-4250-E700-BC08507E432A}"/>
              </a:ext>
            </a:extLst>
          </p:cNvPr>
          <p:cNvSpPr>
            <a:spLocks noChangeArrowheads="1"/>
          </p:cNvSpPr>
          <p:nvPr/>
        </p:nvSpPr>
        <p:spPr bwMode="auto">
          <a:xfrm>
            <a:off x="452487" y="1707750"/>
            <a:ext cx="11287025" cy="46721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342900" indent="-342900" defTabSz="914400" eaLnBrk="0" fontAlgn="base" hangingPunct="0">
              <a:lnSpc>
                <a:spcPct val="150000"/>
              </a:lnSpc>
              <a:spcBef>
                <a:spcPct val="0"/>
              </a:spcBef>
              <a:spcAft>
                <a:spcPct val="0"/>
              </a:spcAft>
              <a:buFont typeface="Wingdings" panose="05000000000000000000" pitchFamily="2" charset="2"/>
              <a:buChar char="q"/>
            </a:pPr>
            <a:r>
              <a:rPr kumimoji="0" lang="en-US" altLang="en-US" sz="2100" b="0" i="0" u="none" strike="noStrike" cap="none" normalizeH="0" baseline="0" dirty="0">
                <a:ln>
                  <a:noFill/>
                </a:ln>
                <a:solidFill>
                  <a:schemeClr val="tx1"/>
                </a:solidFill>
                <a:effectLst/>
                <a:latin typeface="Arial" panose="020B0604020202020204" pitchFamily="34" charset="0"/>
              </a:rPr>
              <a:t> Fine-tuning models like </a:t>
            </a:r>
            <a:r>
              <a:rPr kumimoji="0" lang="en-US" altLang="en-US" sz="2100" b="0" i="0" u="none" strike="noStrike" cap="none" normalizeH="0" baseline="0" dirty="0" err="1">
                <a:ln>
                  <a:noFill/>
                </a:ln>
                <a:solidFill>
                  <a:schemeClr val="tx1"/>
                </a:solidFill>
                <a:effectLst/>
                <a:latin typeface="Arial" panose="020B0604020202020204" pitchFamily="34" charset="0"/>
              </a:rPr>
              <a:t>LLaMA</a:t>
            </a:r>
            <a:r>
              <a:rPr kumimoji="0" lang="en-US" altLang="en-US" sz="2100" b="0" i="0" u="none" strike="noStrike" cap="none" normalizeH="0" baseline="0" dirty="0">
                <a:ln>
                  <a:noFill/>
                </a:ln>
                <a:solidFill>
                  <a:schemeClr val="tx1"/>
                </a:solidFill>
                <a:effectLst/>
                <a:latin typeface="Arial" panose="020B0604020202020204" pitchFamily="34" charset="0"/>
              </a:rPr>
              <a:t> 3 2B, Gemma 2 2B, and Phi 3.5 Mini 4B using the ETHICS dataset to align outputs with human moral values. </a:t>
            </a:r>
          </a:p>
          <a:p>
            <a:pPr marL="342900" indent="-342900" defTabSz="914400" eaLnBrk="0" fontAlgn="base" hangingPunct="0">
              <a:lnSpc>
                <a:spcPct val="150000"/>
              </a:lnSpc>
              <a:spcBef>
                <a:spcPct val="0"/>
              </a:spcBef>
              <a:spcAft>
                <a:spcPct val="0"/>
              </a:spcAft>
              <a:buFont typeface="Wingdings" panose="05000000000000000000" pitchFamily="2" charset="2"/>
              <a:buChar char="q"/>
            </a:pPr>
            <a:endParaRPr kumimoji="0" lang="en-US" altLang="en-US" sz="2100" b="0" i="0" u="none" strike="noStrike" cap="none" normalizeH="0" baseline="0" dirty="0">
              <a:ln>
                <a:noFill/>
              </a:ln>
              <a:solidFill>
                <a:schemeClr val="tx1"/>
              </a:solidFill>
              <a:effectLst/>
              <a:latin typeface="Arial" panose="020B0604020202020204" pitchFamily="34" charset="0"/>
            </a:endParaRPr>
          </a:p>
          <a:p>
            <a:pPr marL="342900" indent="-342900" defTabSz="914400" eaLnBrk="0" fontAlgn="base" hangingPunct="0">
              <a:lnSpc>
                <a:spcPct val="150000"/>
              </a:lnSpc>
              <a:spcBef>
                <a:spcPct val="0"/>
              </a:spcBef>
              <a:spcAft>
                <a:spcPct val="0"/>
              </a:spcAft>
              <a:buFont typeface="Wingdings" panose="05000000000000000000" pitchFamily="2" charset="2"/>
              <a:buChar char="q"/>
            </a:pPr>
            <a:r>
              <a:rPr kumimoji="0" lang="en-US" altLang="en-US" sz="2100" b="0" i="0" u="none" strike="noStrike" cap="none" normalizeH="0" baseline="0" dirty="0">
                <a:ln>
                  <a:noFill/>
                </a:ln>
                <a:solidFill>
                  <a:schemeClr val="tx1"/>
                </a:solidFill>
                <a:effectLst/>
                <a:latin typeface="Arial" panose="020B0604020202020204" pitchFamily="34" charset="0"/>
              </a:rPr>
              <a:t> Pioneering a Reverse Knowledge Distillation framework, enabling fine-tuned SLMs to guide larger models (e.g., </a:t>
            </a:r>
            <a:r>
              <a:rPr kumimoji="0" lang="en-US" altLang="en-US" sz="2100" b="0" i="0" u="none" strike="noStrike" cap="none" normalizeH="0" baseline="0" dirty="0" err="1">
                <a:ln>
                  <a:noFill/>
                </a:ln>
                <a:solidFill>
                  <a:schemeClr val="tx1"/>
                </a:solidFill>
                <a:effectLst/>
                <a:latin typeface="Arial" panose="020B0604020202020204" pitchFamily="34" charset="0"/>
              </a:rPr>
              <a:t>LLaMA</a:t>
            </a:r>
            <a:r>
              <a:rPr kumimoji="0" lang="en-US" altLang="en-US" sz="2100" b="0" i="0" u="none" strike="noStrike" cap="none" normalizeH="0" baseline="0" dirty="0">
                <a:ln>
                  <a:noFill/>
                </a:ln>
                <a:solidFill>
                  <a:schemeClr val="tx1"/>
                </a:solidFill>
                <a:effectLst/>
                <a:latin typeface="Arial" panose="020B0604020202020204" pitchFamily="34" charset="0"/>
              </a:rPr>
              <a:t> 2 7B, Gemma 2 9B) for mutual ethical enhancement. </a:t>
            </a:r>
          </a:p>
          <a:p>
            <a:pPr marL="342900" indent="-342900" defTabSz="914400" eaLnBrk="0" fontAlgn="base" hangingPunct="0">
              <a:lnSpc>
                <a:spcPct val="150000"/>
              </a:lnSpc>
              <a:spcBef>
                <a:spcPct val="0"/>
              </a:spcBef>
              <a:spcAft>
                <a:spcPct val="0"/>
              </a:spcAft>
              <a:buFont typeface="Wingdings" panose="05000000000000000000" pitchFamily="2" charset="2"/>
              <a:buChar char="q"/>
            </a:pPr>
            <a:endParaRPr kumimoji="0" lang="en-US" altLang="en-US" sz="2100" b="0" i="0" u="none" strike="noStrike" cap="none" normalizeH="0" baseline="0" dirty="0">
              <a:ln>
                <a:noFill/>
              </a:ln>
              <a:solidFill>
                <a:schemeClr val="tx1"/>
              </a:solidFill>
              <a:effectLst/>
              <a:latin typeface="Arial" panose="020B0604020202020204" pitchFamily="34" charset="0"/>
            </a:endParaRPr>
          </a:p>
          <a:p>
            <a:pPr marL="342900" indent="-342900" defTabSz="914400" eaLnBrk="0" fontAlgn="base" hangingPunct="0">
              <a:lnSpc>
                <a:spcPct val="150000"/>
              </a:lnSpc>
              <a:spcBef>
                <a:spcPct val="0"/>
              </a:spcBef>
              <a:spcAft>
                <a:spcPct val="0"/>
              </a:spcAft>
              <a:buFont typeface="Wingdings" panose="05000000000000000000" pitchFamily="2" charset="2"/>
              <a:buChar char="q"/>
            </a:pPr>
            <a:r>
              <a:rPr kumimoji="0" lang="en-US" altLang="en-US" sz="2100" b="0" i="0" u="none" strike="noStrike" cap="none" normalizeH="0" baseline="0" dirty="0">
                <a:ln>
                  <a:noFill/>
                </a:ln>
                <a:solidFill>
                  <a:schemeClr val="tx1"/>
                </a:solidFill>
                <a:effectLst/>
                <a:latin typeface="Arial" panose="020B0604020202020204" pitchFamily="34" charset="0"/>
              </a:rPr>
              <a:t> Creating computationally efficient, sustainable AI systems that deliver near-LLM ethical performance, empowering applications in healthcare, education, and edge devices in low-resource environments worldwide.</a:t>
            </a:r>
          </a:p>
        </p:txBody>
      </p:sp>
    </p:spTree>
    <p:extLst>
      <p:ext uri="{BB962C8B-B14F-4D97-AF65-F5344CB8AC3E}">
        <p14:creationId xmlns:p14="http://schemas.microsoft.com/office/powerpoint/2010/main" val="30930669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40F4020-A4C8-C012-00D9-5031203667B5}"/>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3F60E449-3EF1-B6F9-1BEC-A309104236B6}"/>
              </a:ext>
            </a:extLst>
          </p:cNvPr>
          <p:cNvSpPr>
            <a:spLocks noGrp="1"/>
          </p:cNvSpPr>
          <p:nvPr>
            <p:ph type="title"/>
          </p:nvPr>
        </p:nvSpPr>
        <p:spPr>
          <a:xfrm>
            <a:off x="581192" y="593890"/>
            <a:ext cx="11029616" cy="1206630"/>
          </a:xfrm>
        </p:spPr>
        <p:txBody>
          <a:bodyPr>
            <a:normAutofit/>
          </a:bodyPr>
          <a:lstStyle/>
          <a:p>
            <a:r>
              <a:rPr lang="en-US" b="1" dirty="0">
                <a:effectLst/>
              </a:rPr>
              <a:t>Methodology</a:t>
            </a:r>
            <a:br>
              <a:rPr lang="en-US" sz="2800" dirty="0"/>
            </a:br>
            <a:endParaRPr lang="en-US" dirty="0"/>
          </a:p>
        </p:txBody>
      </p:sp>
      <p:sp>
        <p:nvSpPr>
          <p:cNvPr id="2" name="Content Placeholder 1">
            <a:extLst>
              <a:ext uri="{FF2B5EF4-FFF2-40B4-BE49-F238E27FC236}">
                <a16:creationId xmlns:a16="http://schemas.microsoft.com/office/drawing/2014/main" id="{37119490-A508-3CFF-0AE3-57011965177A}"/>
              </a:ext>
            </a:extLst>
          </p:cNvPr>
          <p:cNvSpPr>
            <a:spLocks noGrp="1" noChangeArrowheads="1"/>
          </p:cNvSpPr>
          <p:nvPr>
            <p:ph idx="1"/>
          </p:nvPr>
        </p:nvSpPr>
        <p:spPr bwMode="auto">
          <a:xfrm>
            <a:off x="452487" y="3489484"/>
            <a:ext cx="1129153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Arial" panose="020B0604020202020204" pitchFamily="34" charset="0"/>
              </a:rPr>
              <a:t>	</a:t>
            </a:r>
          </a:p>
        </p:txBody>
      </p:sp>
      <p:sp>
        <p:nvSpPr>
          <p:cNvPr id="3" name="Rectangle 1">
            <a:extLst>
              <a:ext uri="{FF2B5EF4-FFF2-40B4-BE49-F238E27FC236}">
                <a16:creationId xmlns:a16="http://schemas.microsoft.com/office/drawing/2014/main" id="{5544AF26-54BE-3BF6-CB11-FC2722335765}"/>
              </a:ext>
            </a:extLst>
          </p:cNvPr>
          <p:cNvSpPr>
            <a:spLocks noChangeArrowheads="1"/>
          </p:cNvSpPr>
          <p:nvPr/>
        </p:nvSpPr>
        <p:spPr bwMode="auto">
          <a:xfrm>
            <a:off x="424615" y="3739512"/>
            <a:ext cx="11291535" cy="8403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1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50000"/>
              </a:lnSpc>
              <a:spcBef>
                <a:spcPct val="0"/>
              </a:spcBef>
              <a:spcAft>
                <a:spcPct val="0"/>
              </a:spcAft>
              <a:buClrTx/>
              <a:buSzTx/>
              <a:tabLst/>
            </a:pPr>
            <a:endParaRPr kumimoji="0" lang="en-US" altLang="en-US" sz="2100" b="0" i="0" u="none" strike="noStrike" cap="none" normalizeH="0" baseline="0" dirty="0">
              <a:ln>
                <a:noFill/>
              </a:ln>
              <a:solidFill>
                <a:schemeClr val="tx1"/>
              </a:solidFill>
              <a:effectLst/>
              <a:latin typeface="Arial" panose="020B0604020202020204" pitchFamily="34" charset="0"/>
            </a:endParaRPr>
          </a:p>
        </p:txBody>
      </p:sp>
      <p:sp>
        <p:nvSpPr>
          <p:cNvPr id="4" name="Rectangle 2">
            <a:extLst>
              <a:ext uri="{FF2B5EF4-FFF2-40B4-BE49-F238E27FC236}">
                <a16:creationId xmlns:a16="http://schemas.microsoft.com/office/drawing/2014/main" id="{3A0E622E-7B38-E02A-2910-532570B6D537}"/>
              </a:ext>
            </a:extLst>
          </p:cNvPr>
          <p:cNvSpPr>
            <a:spLocks noChangeArrowheads="1"/>
          </p:cNvSpPr>
          <p:nvPr/>
        </p:nvSpPr>
        <p:spPr bwMode="auto">
          <a:xfrm>
            <a:off x="424615" y="1812293"/>
            <a:ext cx="11291536" cy="46519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indent="-342900" defTabSz="914400" eaLnBrk="0" fontAlgn="base" hangingPunct="0">
              <a:lnSpc>
                <a:spcPct val="150000"/>
              </a:lnSpc>
              <a:spcBef>
                <a:spcPct val="0"/>
              </a:spcBef>
              <a:spcAft>
                <a:spcPct val="0"/>
              </a:spcAft>
              <a:buFont typeface="Wingdings" panose="05000000000000000000" pitchFamily="2" charset="2"/>
              <a:buChar char="q"/>
            </a:pPr>
            <a:r>
              <a:rPr kumimoji="0" lang="en-US" altLang="en-US" sz="2000" b="1" i="0" u="none" strike="noStrike" cap="none" normalizeH="0" baseline="0" dirty="0">
                <a:ln>
                  <a:noFill/>
                </a:ln>
                <a:solidFill>
                  <a:schemeClr val="tx1"/>
                </a:solidFill>
                <a:effectLst/>
                <a:latin typeface="Arial" panose="020B0604020202020204" pitchFamily="34" charset="0"/>
              </a:rPr>
              <a:t>Data Preprocessing: </a:t>
            </a:r>
            <a:r>
              <a:rPr lang="en-US" altLang="en-US" sz="2000" dirty="0">
                <a:latin typeface="Arial" panose="020B0604020202020204" pitchFamily="34" charset="0"/>
              </a:rPr>
              <a:t>ETHICS dataset (&gt;130,000 examples) spans justice, virtue, deontology, utilitarianism, commonsense morality, with binary labels for ethical alignment.</a:t>
            </a:r>
            <a:r>
              <a:rPr kumimoji="0" lang="en-US" altLang="en-US" sz="2000" b="1" i="0" u="none" strike="noStrike" cap="none" normalizeH="0" baseline="0" dirty="0">
                <a:ln>
                  <a:noFill/>
                </a:ln>
                <a:solidFill>
                  <a:schemeClr val="tx1"/>
                </a:solidFill>
                <a:effectLst/>
                <a:latin typeface="Arial" panose="020B0604020202020204" pitchFamily="34" charset="0"/>
              </a:rPr>
              <a:t> </a:t>
            </a:r>
            <a:r>
              <a:rPr kumimoji="0" lang="en-US" altLang="en-US" sz="2000" i="0" u="none" strike="noStrike" cap="none" normalizeH="0" baseline="0" dirty="0">
                <a:ln>
                  <a:noFill/>
                </a:ln>
                <a:solidFill>
                  <a:schemeClr val="tx1"/>
                </a:solidFill>
                <a:effectLst/>
                <a:latin typeface="Arial" panose="020B0604020202020204" pitchFamily="34" charset="0"/>
              </a:rPr>
              <a:t>Clean and format the ETHICS dataset, encoding ethical prompts and binary labels for robust training. </a:t>
            </a:r>
          </a:p>
          <a:p>
            <a:pPr marL="342900" indent="-342900" defTabSz="914400" eaLnBrk="0" fontAlgn="base" hangingPunct="0">
              <a:lnSpc>
                <a:spcPct val="150000"/>
              </a:lnSpc>
              <a:spcBef>
                <a:spcPct val="0"/>
              </a:spcBef>
              <a:spcAft>
                <a:spcPct val="0"/>
              </a:spcAft>
              <a:buFont typeface="Wingdings" panose="05000000000000000000" pitchFamily="2" charset="2"/>
              <a:buChar char="q"/>
            </a:pPr>
            <a:r>
              <a:rPr kumimoji="0" lang="en-US" altLang="en-US" sz="2000" b="1" i="0" u="none" strike="noStrike" cap="none" normalizeH="0" baseline="0" dirty="0">
                <a:ln>
                  <a:noFill/>
                </a:ln>
                <a:solidFill>
                  <a:schemeClr val="tx1"/>
                </a:solidFill>
                <a:effectLst/>
                <a:latin typeface="Arial" panose="020B0604020202020204" pitchFamily="34" charset="0"/>
              </a:rPr>
              <a:t>Supervised Fine-Tuning: </a:t>
            </a:r>
            <a:r>
              <a:rPr kumimoji="0" lang="en-US" altLang="en-US" sz="2000" i="0" u="none" strike="noStrike" cap="none" normalizeH="0" baseline="0" dirty="0">
                <a:ln>
                  <a:noFill/>
                </a:ln>
                <a:solidFill>
                  <a:schemeClr val="tx1"/>
                </a:solidFill>
                <a:effectLst/>
                <a:latin typeface="Arial" panose="020B0604020202020204" pitchFamily="34" charset="0"/>
              </a:rPr>
              <a:t>Optimize SLMs (</a:t>
            </a:r>
            <a:r>
              <a:rPr kumimoji="0" lang="en-US" altLang="en-US" sz="2000" i="0" u="none" strike="noStrike" cap="none" normalizeH="0" baseline="0" dirty="0" err="1">
                <a:ln>
                  <a:noFill/>
                </a:ln>
                <a:solidFill>
                  <a:schemeClr val="tx1"/>
                </a:solidFill>
                <a:effectLst/>
                <a:latin typeface="Arial" panose="020B0604020202020204" pitchFamily="34" charset="0"/>
              </a:rPr>
              <a:t>LLaMA</a:t>
            </a:r>
            <a:r>
              <a:rPr kumimoji="0" lang="en-US" altLang="en-US" sz="2000" i="0" u="none" strike="noStrike" cap="none" normalizeH="0" baseline="0">
                <a:ln>
                  <a:noFill/>
                </a:ln>
                <a:solidFill>
                  <a:schemeClr val="tx1"/>
                </a:solidFill>
                <a:effectLst/>
                <a:latin typeface="Arial" panose="020B0604020202020204" pitchFamily="34" charset="0"/>
              </a:rPr>
              <a:t> 3 </a:t>
            </a:r>
            <a:r>
              <a:rPr kumimoji="0" lang="en-US" altLang="en-US" sz="2000" i="0" u="none" strike="noStrike" cap="none" normalizeH="0" baseline="0" dirty="0">
                <a:ln>
                  <a:noFill/>
                </a:ln>
                <a:solidFill>
                  <a:schemeClr val="tx1"/>
                </a:solidFill>
                <a:effectLst/>
                <a:latin typeface="Arial" panose="020B0604020202020204" pitchFamily="34" charset="0"/>
              </a:rPr>
              <a:t>2B, Gemma 2 2B, Phi 3.5 Mini 4B) with Hugging Face Trainer, using a learning rate of 2e-4 to embed ethical reasoning. </a:t>
            </a:r>
          </a:p>
          <a:p>
            <a:pPr marL="342900" indent="-342900" defTabSz="914400" eaLnBrk="0" fontAlgn="base" hangingPunct="0">
              <a:lnSpc>
                <a:spcPct val="150000"/>
              </a:lnSpc>
              <a:spcBef>
                <a:spcPct val="0"/>
              </a:spcBef>
              <a:spcAft>
                <a:spcPct val="0"/>
              </a:spcAft>
              <a:buFont typeface="Wingdings" panose="05000000000000000000" pitchFamily="2" charset="2"/>
              <a:buChar char="q"/>
            </a:pPr>
            <a:r>
              <a:rPr kumimoji="0" lang="en-US" altLang="en-US" sz="2000" b="1" i="0" u="none" strike="noStrike" cap="none" normalizeH="0" baseline="0" dirty="0">
                <a:ln>
                  <a:noFill/>
                </a:ln>
                <a:solidFill>
                  <a:schemeClr val="tx1"/>
                </a:solidFill>
                <a:effectLst/>
                <a:latin typeface="Arial" panose="020B0604020202020204" pitchFamily="34" charset="0"/>
              </a:rPr>
              <a:t>Reverse Knowledge Distillation (RKD): </a:t>
            </a:r>
            <a:r>
              <a:rPr kumimoji="0" lang="en-US" altLang="en-US" sz="2000" i="0" u="none" strike="noStrike" cap="none" normalizeH="0" baseline="0" dirty="0">
                <a:ln>
                  <a:noFill/>
                </a:ln>
                <a:solidFill>
                  <a:schemeClr val="tx1"/>
                </a:solidFill>
                <a:effectLst/>
                <a:latin typeface="Arial" panose="020B0604020202020204" pitchFamily="34" charset="0"/>
              </a:rPr>
              <a:t>Enable fine-tuned SLMs to teach larger models (</a:t>
            </a:r>
            <a:r>
              <a:rPr kumimoji="0" lang="en-US" altLang="en-US" sz="2000" i="0" u="none" strike="noStrike" cap="none" normalizeH="0" baseline="0" dirty="0" err="1">
                <a:ln>
                  <a:noFill/>
                </a:ln>
                <a:solidFill>
                  <a:schemeClr val="tx1"/>
                </a:solidFill>
                <a:effectLst/>
                <a:latin typeface="Arial" panose="020B0604020202020204" pitchFamily="34" charset="0"/>
              </a:rPr>
              <a:t>LLaMA</a:t>
            </a:r>
            <a:r>
              <a:rPr kumimoji="0" lang="en-US" altLang="en-US" sz="2000" i="0" u="none" strike="noStrike" cap="none" normalizeH="0" baseline="0" dirty="0">
                <a:ln>
                  <a:noFill/>
                </a:ln>
                <a:solidFill>
                  <a:schemeClr val="tx1"/>
                </a:solidFill>
                <a:effectLst/>
                <a:latin typeface="Arial" panose="020B0604020202020204" pitchFamily="34" charset="0"/>
              </a:rPr>
              <a:t> 2 7B, Gemma 2 9B) via KL-divergence loss</a:t>
            </a:r>
            <a:r>
              <a:rPr lang="en-US" sz="2000" dirty="0">
                <a:effectLst/>
              </a:rPr>
              <a:t> (RKD</a:t>
            </a:r>
            <a:r>
              <a:rPr lang="en-US" sz="2000" dirty="0"/>
              <a:t>​=</a:t>
            </a:r>
            <a:r>
              <a:rPr lang="en-US" sz="2000" dirty="0">
                <a:effectLst/>
              </a:rPr>
              <a:t>∑</a:t>
            </a:r>
            <a:r>
              <a:rPr lang="en-US" sz="2000" dirty="0"/>
              <a:t>KL(P</a:t>
            </a:r>
            <a:r>
              <a:rPr lang="en-US" sz="2000" dirty="0">
                <a:effectLst/>
              </a:rPr>
              <a:t>t</a:t>
            </a:r>
            <a:r>
              <a:rPr lang="en-US" sz="2000" dirty="0"/>
              <a:t>​∥P</a:t>
            </a:r>
            <a:r>
              <a:rPr lang="en-US" sz="2000" dirty="0">
                <a:effectLst/>
              </a:rPr>
              <a:t>s</a:t>
            </a:r>
            <a:r>
              <a:rPr lang="en-US" sz="2000" dirty="0"/>
              <a:t>​))</a:t>
            </a:r>
            <a:r>
              <a:rPr kumimoji="0" lang="en-US" altLang="en-US" sz="2000" i="0" u="none" strike="noStrike" cap="none" normalizeH="0" baseline="0" dirty="0">
                <a:ln>
                  <a:noFill/>
                </a:ln>
                <a:solidFill>
                  <a:schemeClr val="tx1"/>
                </a:solidFill>
                <a:effectLst/>
                <a:latin typeface="Arial" panose="020B0604020202020204" pitchFamily="34" charset="0"/>
              </a:rPr>
              <a:t> ,balancing supervised and distillation losses for bidirectional alignment. </a:t>
            </a:r>
          </a:p>
          <a:p>
            <a:pPr marL="342900" indent="-342900" defTabSz="914400" eaLnBrk="0" fontAlgn="base" hangingPunct="0">
              <a:lnSpc>
                <a:spcPct val="150000"/>
              </a:lnSpc>
              <a:spcBef>
                <a:spcPct val="0"/>
              </a:spcBef>
              <a:spcAft>
                <a:spcPct val="0"/>
              </a:spcAft>
              <a:buFont typeface="Wingdings" panose="05000000000000000000" pitchFamily="2" charset="2"/>
              <a:buChar char="q"/>
            </a:pPr>
            <a:r>
              <a:rPr kumimoji="0" lang="en-US" altLang="en-US" sz="2000" b="1" i="0" u="none" strike="noStrike" cap="none" normalizeH="0" baseline="0" dirty="0">
                <a:ln>
                  <a:noFill/>
                </a:ln>
                <a:solidFill>
                  <a:schemeClr val="tx1"/>
                </a:solidFill>
                <a:effectLst/>
                <a:latin typeface="Arial" panose="020B0604020202020204" pitchFamily="34" charset="0"/>
              </a:rPr>
              <a:t>Performance Evaluation: </a:t>
            </a:r>
            <a:r>
              <a:rPr kumimoji="0" lang="en-US" altLang="en-US" sz="2000" i="0" u="none" strike="noStrike" cap="none" normalizeH="0" baseline="0" dirty="0">
                <a:ln>
                  <a:noFill/>
                </a:ln>
                <a:solidFill>
                  <a:schemeClr val="tx1"/>
                </a:solidFill>
                <a:effectLst/>
                <a:latin typeface="Arial" panose="020B0604020202020204" pitchFamily="34" charset="0"/>
              </a:rPr>
              <a:t>Measure accuracy (up to 85.1%), F1 scores, and qualitative robustness on ethical scenarios, using </a:t>
            </a:r>
            <a:r>
              <a:rPr kumimoji="0" lang="en-US" altLang="en-US" sz="2000" i="0" u="none" strike="noStrike" cap="none" normalizeH="0" baseline="0" dirty="0" err="1">
                <a:ln>
                  <a:noFill/>
                </a:ln>
                <a:solidFill>
                  <a:schemeClr val="tx1"/>
                </a:solidFill>
                <a:effectLst/>
                <a:latin typeface="Arial" panose="020B0604020202020204" pitchFamily="34" charset="0"/>
              </a:rPr>
              <a:t>PyTorch</a:t>
            </a:r>
            <a:r>
              <a:rPr kumimoji="0" lang="en-US" altLang="en-US" sz="2000" i="0" u="none" strike="noStrike" cap="none" normalizeH="0" baseline="0" dirty="0">
                <a:ln>
                  <a:noFill/>
                </a:ln>
                <a:solidFill>
                  <a:schemeClr val="tx1"/>
                </a:solidFill>
                <a:effectLst/>
                <a:latin typeface="Arial" panose="020B0604020202020204" pitchFamily="34" charset="0"/>
              </a:rPr>
              <a:t> and cloud platforms (Google </a:t>
            </a:r>
            <a:r>
              <a:rPr kumimoji="0" lang="en-US" altLang="en-US" sz="2000" i="0" u="none" strike="noStrike" cap="none" normalizeH="0" baseline="0" dirty="0" err="1">
                <a:ln>
                  <a:noFill/>
                </a:ln>
                <a:solidFill>
                  <a:schemeClr val="tx1"/>
                </a:solidFill>
                <a:effectLst/>
                <a:latin typeface="Arial" panose="020B0604020202020204" pitchFamily="34" charset="0"/>
              </a:rPr>
              <a:t>Colab</a:t>
            </a:r>
            <a:r>
              <a:rPr kumimoji="0" lang="en-US" altLang="en-US" sz="2000" i="0" u="none" strike="noStrike" cap="none" normalizeH="0" baseline="0" dirty="0">
                <a:ln>
                  <a:noFill/>
                </a:ln>
                <a:solidFill>
                  <a:schemeClr val="tx1"/>
                </a:solidFill>
                <a:effectLst/>
                <a:latin typeface="Arial" panose="020B0604020202020204" pitchFamily="34" charset="0"/>
              </a:rPr>
              <a:t>, Kaggle).</a:t>
            </a:r>
          </a:p>
        </p:txBody>
      </p:sp>
    </p:spTree>
    <p:extLst>
      <p:ext uri="{BB962C8B-B14F-4D97-AF65-F5344CB8AC3E}">
        <p14:creationId xmlns:p14="http://schemas.microsoft.com/office/powerpoint/2010/main" val="185852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124E405-F84E-50A5-5BB2-0C9DA5AE7F18}"/>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1F1DDC5B-B0BB-48B4-11CB-EADFF584609B}"/>
              </a:ext>
            </a:extLst>
          </p:cNvPr>
          <p:cNvSpPr>
            <a:spLocks noGrp="1"/>
          </p:cNvSpPr>
          <p:nvPr>
            <p:ph type="title" idx="4294967295"/>
          </p:nvPr>
        </p:nvSpPr>
        <p:spPr>
          <a:xfrm>
            <a:off x="0" y="593725"/>
            <a:ext cx="11029950" cy="1206500"/>
          </a:xfrm>
        </p:spPr>
        <p:txBody>
          <a:bodyPr>
            <a:normAutofit/>
          </a:bodyPr>
          <a:lstStyle/>
          <a:p>
            <a:br>
              <a:rPr lang="en-US" sz="2800" dirty="0"/>
            </a:br>
            <a:endParaRPr lang="en-US" dirty="0"/>
          </a:p>
        </p:txBody>
      </p:sp>
      <p:sp>
        <p:nvSpPr>
          <p:cNvPr id="2" name="Content Placeholder 1">
            <a:extLst>
              <a:ext uri="{FF2B5EF4-FFF2-40B4-BE49-F238E27FC236}">
                <a16:creationId xmlns:a16="http://schemas.microsoft.com/office/drawing/2014/main" id="{BD8FD3AC-B83D-3206-9787-F663C4A82FD8}"/>
              </a:ext>
            </a:extLst>
          </p:cNvPr>
          <p:cNvSpPr>
            <a:spLocks noGrp="1" noChangeArrowheads="1"/>
          </p:cNvSpPr>
          <p:nvPr>
            <p:ph idx="4294967295"/>
          </p:nvPr>
        </p:nvSpPr>
        <p:spPr bwMode="auto">
          <a:xfrm>
            <a:off x="900113" y="3489325"/>
            <a:ext cx="11291887"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Arial" panose="020B0604020202020204" pitchFamily="34" charset="0"/>
              </a:rPr>
              <a:t>	</a:t>
            </a:r>
          </a:p>
        </p:txBody>
      </p:sp>
      <p:sp>
        <p:nvSpPr>
          <p:cNvPr id="4" name="Rectangle 1">
            <a:extLst>
              <a:ext uri="{FF2B5EF4-FFF2-40B4-BE49-F238E27FC236}">
                <a16:creationId xmlns:a16="http://schemas.microsoft.com/office/drawing/2014/main" id="{7DB7CC37-7A12-8B8A-8C14-C8D1AD3553AD}"/>
              </a:ext>
            </a:extLst>
          </p:cNvPr>
          <p:cNvSpPr>
            <a:spLocks noChangeArrowheads="1"/>
          </p:cNvSpPr>
          <p:nvPr/>
        </p:nvSpPr>
        <p:spPr bwMode="auto">
          <a:xfrm>
            <a:off x="450056" y="1351316"/>
            <a:ext cx="11291887" cy="23869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Char char="•"/>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342900" marR="0" lvl="0" indent="-342900" algn="l"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sz="2100" b="1" i="0" u="none" strike="noStrike" cap="none" normalizeH="0" baseline="0" dirty="0">
                <a:ln>
                  <a:noFill/>
                </a:ln>
                <a:solidFill>
                  <a:schemeClr val="tx1"/>
                </a:solidFill>
                <a:effectLst/>
                <a:latin typeface="Arial" panose="020B0604020202020204" pitchFamily="34" charset="0"/>
              </a:rPr>
              <a:t>Student Model</a:t>
            </a:r>
            <a:r>
              <a:rPr kumimoji="0" lang="en-US" altLang="en-US" sz="2100" b="0" i="0" u="none" strike="noStrike" cap="none" normalizeH="0" baseline="0" dirty="0">
                <a:ln>
                  <a:noFill/>
                </a:ln>
                <a:solidFill>
                  <a:schemeClr val="tx1"/>
                </a:solidFill>
                <a:effectLst/>
                <a:latin typeface="Arial" panose="020B0604020202020204" pitchFamily="34" charset="0"/>
              </a:rPr>
              <a:t>: </a:t>
            </a:r>
            <a:r>
              <a:rPr kumimoji="0" lang="en-US" altLang="en-US" sz="2100" b="0" i="0" u="none" strike="noStrike" cap="none" normalizeH="0" baseline="0" dirty="0" err="1">
                <a:ln>
                  <a:noFill/>
                </a:ln>
                <a:solidFill>
                  <a:schemeClr val="tx1"/>
                </a:solidFill>
                <a:effectLst/>
                <a:latin typeface="Arial" panose="020B0604020202020204" pitchFamily="34" charset="0"/>
              </a:rPr>
              <a:t>LLaMA</a:t>
            </a:r>
            <a:r>
              <a:rPr kumimoji="0" lang="en-US" altLang="en-US" sz="2100" b="0" i="0" u="none" strike="noStrike" cap="none" normalizeH="0" baseline="0" dirty="0">
                <a:ln>
                  <a:noFill/>
                </a:ln>
                <a:solidFill>
                  <a:schemeClr val="tx1"/>
                </a:solidFill>
                <a:effectLst/>
                <a:latin typeface="Arial" panose="020B0604020202020204" pitchFamily="34" charset="0"/>
              </a:rPr>
              <a:t> 2 7B, Gemma 2 9B provide initial knowledge, refined via RKD to reach 85.1% accuracy. </a:t>
            </a:r>
          </a:p>
          <a:p>
            <a:pPr marL="342900" marR="0" lvl="0" indent="-342900" algn="l"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sz="2100" b="1" i="0" u="none" strike="noStrike" cap="none" normalizeH="0" baseline="0" dirty="0">
                <a:ln>
                  <a:noFill/>
                </a:ln>
                <a:solidFill>
                  <a:schemeClr val="tx1"/>
                </a:solidFill>
                <a:effectLst/>
                <a:latin typeface="Arial" panose="020B0604020202020204" pitchFamily="34" charset="0"/>
              </a:rPr>
              <a:t>Teacher Model</a:t>
            </a:r>
            <a:r>
              <a:rPr kumimoji="0" lang="en-US" altLang="en-US" sz="2100" b="0" i="0" u="none" strike="noStrike" cap="none" normalizeH="0" baseline="0" dirty="0">
                <a:ln>
                  <a:noFill/>
                </a:ln>
                <a:solidFill>
                  <a:schemeClr val="tx1"/>
                </a:solidFill>
                <a:effectLst/>
                <a:latin typeface="Arial" panose="020B0604020202020204" pitchFamily="34" charset="0"/>
              </a:rPr>
              <a:t>: </a:t>
            </a:r>
            <a:r>
              <a:rPr kumimoji="0" lang="en-US" altLang="en-US" sz="2100" b="0" i="0" u="none" strike="noStrike" cap="none" normalizeH="0" baseline="0" dirty="0" err="1">
                <a:ln>
                  <a:noFill/>
                </a:ln>
                <a:solidFill>
                  <a:schemeClr val="tx1"/>
                </a:solidFill>
                <a:effectLst/>
                <a:latin typeface="Arial" panose="020B0604020202020204" pitchFamily="34" charset="0"/>
              </a:rPr>
              <a:t>LLaMA</a:t>
            </a:r>
            <a:r>
              <a:rPr kumimoji="0" lang="en-US" altLang="en-US" sz="2100" b="0" i="0" u="none" strike="noStrike" cap="none" normalizeH="0" baseline="0" dirty="0">
                <a:ln>
                  <a:noFill/>
                </a:ln>
                <a:solidFill>
                  <a:schemeClr val="tx1"/>
                </a:solidFill>
                <a:effectLst/>
                <a:latin typeface="Arial" panose="020B0604020202020204" pitchFamily="34" charset="0"/>
              </a:rPr>
              <a:t> 3 2B, Gemma 2 2B, Phi 3.5 Mini 4B, fine-tuned for efficiency, achieving 81.2% accuracy.</a:t>
            </a:r>
            <a:r>
              <a:rPr kumimoji="0" lang="en-US" altLang="en-US" sz="2100" b="1" i="0" u="none" strike="noStrike" cap="none" normalizeH="0" baseline="0" dirty="0">
                <a:ln>
                  <a:noFill/>
                </a:ln>
                <a:solidFill>
                  <a:schemeClr val="tx1"/>
                </a:solidFill>
                <a:effectLst/>
                <a:latin typeface="Arial" panose="020B0604020202020204" pitchFamily="34" charset="0"/>
              </a:rPr>
              <a:t> </a:t>
            </a:r>
            <a:endParaRPr kumimoji="0" lang="en-US" altLang="en-US" sz="21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028227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114E88C-F5E4-368E-4E14-6C78CEC26AD1}"/>
              </a:ext>
            </a:extLst>
          </p:cNvPr>
          <p:cNvSpPr txBox="1"/>
          <p:nvPr/>
        </p:nvSpPr>
        <p:spPr>
          <a:xfrm>
            <a:off x="480767" y="848412"/>
            <a:ext cx="4666268" cy="5044458"/>
          </a:xfrm>
          <a:prstGeom prst="rect">
            <a:avLst/>
          </a:prstGeom>
          <a:noFill/>
        </p:spPr>
        <p:txBody>
          <a:bodyPr wrap="square">
            <a:spAutoFit/>
          </a:bodyPr>
          <a:lstStyle/>
          <a:p>
            <a:pPr>
              <a:lnSpc>
                <a:spcPct val="150000"/>
              </a:lnSpc>
            </a:pPr>
            <a:r>
              <a:rPr lang="en-US" sz="2800" b="1" dirty="0"/>
              <a:t>Approaches</a:t>
            </a:r>
            <a:r>
              <a:rPr lang="en-US" sz="2800" dirty="0"/>
              <a:t>: </a:t>
            </a:r>
          </a:p>
          <a:p>
            <a:pPr marL="342900" indent="-342900">
              <a:lnSpc>
                <a:spcPct val="150000"/>
              </a:lnSpc>
              <a:buFont typeface="Wingdings" panose="05000000000000000000" pitchFamily="2" charset="2"/>
              <a:buChar char="q"/>
            </a:pPr>
            <a:r>
              <a:rPr lang="en-US" sz="2100" dirty="0"/>
              <a:t>Preprocess ETHICS data (tokenization, label encoding).</a:t>
            </a:r>
          </a:p>
          <a:p>
            <a:pPr marL="342900" indent="-342900">
              <a:lnSpc>
                <a:spcPct val="150000"/>
              </a:lnSpc>
              <a:buFont typeface="Wingdings" panose="05000000000000000000" pitchFamily="2" charset="2"/>
              <a:buChar char="q"/>
            </a:pPr>
            <a:r>
              <a:rPr lang="en-US" sz="2100" dirty="0"/>
              <a:t>Fine-tune SLMs with supervised loss, learning rate 2e-4.</a:t>
            </a:r>
          </a:p>
          <a:p>
            <a:pPr marL="342900" indent="-342900">
              <a:lnSpc>
                <a:spcPct val="150000"/>
              </a:lnSpc>
              <a:buFont typeface="Wingdings" panose="05000000000000000000" pitchFamily="2" charset="2"/>
              <a:buChar char="q"/>
            </a:pPr>
            <a:r>
              <a:rPr lang="en-US" sz="2100" dirty="0"/>
              <a:t>Implement RKD with combined loss(L total = L sup  + </a:t>
            </a:r>
            <a:r>
              <a:rPr lang="el-GR" sz="2100" dirty="0"/>
              <a:t>λ</a:t>
            </a:r>
            <a:r>
              <a:rPr lang="en-US" sz="2100" dirty="0"/>
              <a:t> . L </a:t>
            </a:r>
            <a:r>
              <a:rPr lang="en-US" sz="2100" dirty="0" err="1"/>
              <a:t>rkd</a:t>
            </a:r>
            <a:r>
              <a:rPr lang="en-US" sz="2100" dirty="0"/>
              <a:t> ).</a:t>
            </a:r>
          </a:p>
          <a:p>
            <a:pPr marL="342900" indent="-342900">
              <a:lnSpc>
                <a:spcPct val="150000"/>
              </a:lnSpc>
              <a:buFont typeface="Wingdings" panose="05000000000000000000" pitchFamily="2" charset="2"/>
              <a:buChar char="q"/>
            </a:pPr>
            <a:r>
              <a:rPr lang="en-US" sz="2100" dirty="0"/>
              <a:t>Evaluate with accuracy, F1, and scenario-based analysis on cloud platforms.</a:t>
            </a:r>
          </a:p>
        </p:txBody>
      </p:sp>
      <p:pic>
        <p:nvPicPr>
          <p:cNvPr id="5" name="Picture 4">
            <a:extLst>
              <a:ext uri="{FF2B5EF4-FFF2-40B4-BE49-F238E27FC236}">
                <a16:creationId xmlns:a16="http://schemas.microsoft.com/office/drawing/2014/main" id="{B52F4307-8338-2C5B-8991-4458B4B27CBA}"/>
              </a:ext>
            </a:extLst>
          </p:cNvPr>
          <p:cNvPicPr>
            <a:picLocks noChangeAspect="1"/>
          </p:cNvPicPr>
          <p:nvPr/>
        </p:nvPicPr>
        <p:blipFill>
          <a:blip r:embed="rId2"/>
          <a:stretch>
            <a:fillRect/>
          </a:stretch>
        </p:blipFill>
        <p:spPr>
          <a:xfrm>
            <a:off x="4892511" y="1046375"/>
            <a:ext cx="7299489" cy="4232635"/>
          </a:xfrm>
          <a:prstGeom prst="rect">
            <a:avLst/>
          </a:prstGeom>
        </p:spPr>
      </p:pic>
    </p:spTree>
    <p:extLst>
      <p:ext uri="{BB962C8B-B14F-4D97-AF65-F5344CB8AC3E}">
        <p14:creationId xmlns:p14="http://schemas.microsoft.com/office/powerpoint/2010/main" val="29540810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1633EB-7DCB-4DDC-80AF-C885A3EE1245}"/>
              </a:ext>
            </a:extLst>
          </p:cNvPr>
          <p:cNvSpPr>
            <a:spLocks noGrp="1"/>
          </p:cNvSpPr>
          <p:nvPr>
            <p:ph type="title"/>
          </p:nvPr>
        </p:nvSpPr>
        <p:spPr>
          <a:xfrm>
            <a:off x="581193" y="729658"/>
            <a:ext cx="11029616" cy="809222"/>
          </a:xfrm>
        </p:spPr>
        <p:txBody>
          <a:bodyPr/>
          <a:lstStyle/>
          <a:p>
            <a:r>
              <a:rPr lang="en-US" b="1" dirty="0"/>
              <a:t>Experiments and Results</a:t>
            </a:r>
          </a:p>
        </p:txBody>
      </p:sp>
      <p:pic>
        <p:nvPicPr>
          <p:cNvPr id="9" name="Content Placeholder 8">
            <a:extLst>
              <a:ext uri="{FF2B5EF4-FFF2-40B4-BE49-F238E27FC236}">
                <a16:creationId xmlns:a16="http://schemas.microsoft.com/office/drawing/2014/main" id="{86EC6733-9468-1293-3209-D08BC1309073}"/>
              </a:ext>
            </a:extLst>
          </p:cNvPr>
          <p:cNvPicPr>
            <a:picLocks noGrp="1" noChangeAspect="1"/>
          </p:cNvPicPr>
          <p:nvPr>
            <p:ph sz="half" idx="2"/>
          </p:nvPr>
        </p:nvPicPr>
        <p:blipFill>
          <a:blip r:embed="rId2"/>
          <a:stretch>
            <a:fillRect/>
          </a:stretch>
        </p:blipFill>
        <p:spPr>
          <a:xfrm>
            <a:off x="6003583" y="3157979"/>
            <a:ext cx="5754784" cy="2161141"/>
          </a:xfrm>
        </p:spPr>
      </p:pic>
      <p:sp>
        <p:nvSpPr>
          <p:cNvPr id="6" name="Content Placeholder 5">
            <a:extLst>
              <a:ext uri="{FF2B5EF4-FFF2-40B4-BE49-F238E27FC236}">
                <a16:creationId xmlns:a16="http://schemas.microsoft.com/office/drawing/2014/main" id="{ABA7E59E-D890-430C-955D-D5B36D6A6199}"/>
              </a:ext>
            </a:extLst>
          </p:cNvPr>
          <p:cNvSpPr>
            <a:spLocks noGrp="1"/>
          </p:cNvSpPr>
          <p:nvPr>
            <p:ph sz="half" idx="1"/>
          </p:nvPr>
        </p:nvSpPr>
        <p:spPr>
          <a:xfrm>
            <a:off x="433633" y="2228002"/>
            <a:ext cx="5569950" cy="4333053"/>
          </a:xfrm>
        </p:spPr>
        <p:txBody>
          <a:bodyPr>
            <a:normAutofit lnSpcReduction="10000"/>
          </a:bodyPr>
          <a:lstStyle/>
          <a:p>
            <a:pPr>
              <a:buFont typeface="Wingdings" panose="05000000000000000000" pitchFamily="2" charset="2"/>
              <a:buChar char="q"/>
            </a:pPr>
            <a:r>
              <a:rPr lang="en-US" sz="2100" b="1" dirty="0"/>
              <a:t>Evaluation Metrics:</a:t>
            </a:r>
          </a:p>
          <a:p>
            <a:pPr>
              <a:buFont typeface="Wingdings" panose="05000000000000000000" pitchFamily="2" charset="2"/>
              <a:buChar char="Ø"/>
            </a:pPr>
            <a:r>
              <a:rPr lang="en-US" sz="2100" b="1" dirty="0"/>
              <a:t>Accuracy: </a:t>
            </a:r>
            <a:r>
              <a:rPr lang="en-US" sz="2100" dirty="0"/>
              <a:t>Correct predictions on ETHICS test set, with Gemma 2 9B at 85.1% and </a:t>
            </a:r>
            <a:r>
              <a:rPr lang="en-US" sz="2100" dirty="0" err="1"/>
              <a:t>LLaMA</a:t>
            </a:r>
            <a:r>
              <a:rPr lang="en-US" sz="2100" dirty="0"/>
              <a:t> 3 2B at 84.3% post-RKD (baseline: 67.4%).</a:t>
            </a:r>
          </a:p>
          <a:p>
            <a:pPr>
              <a:buFont typeface="Wingdings" panose="05000000000000000000" pitchFamily="2" charset="2"/>
              <a:buChar char="Ø"/>
            </a:pPr>
            <a:r>
              <a:rPr lang="en-US" sz="2100" b="1" dirty="0"/>
              <a:t>F1 Score: </a:t>
            </a:r>
            <a:r>
              <a:rPr lang="en-US" sz="2100" dirty="0"/>
              <a:t>Harmonic mean of precision and recall, improving from 0.68 to 0.82 for </a:t>
            </a:r>
            <a:r>
              <a:rPr lang="en-US" sz="2100" dirty="0" err="1"/>
              <a:t>LLaMA</a:t>
            </a:r>
            <a:r>
              <a:rPr lang="en-US" sz="2100" dirty="0"/>
              <a:t> 3 2B, ensuring balanced performance.</a:t>
            </a:r>
          </a:p>
          <a:p>
            <a:pPr>
              <a:buFont typeface="Wingdings" panose="05000000000000000000" pitchFamily="2" charset="2"/>
              <a:buChar char="Ø"/>
            </a:pPr>
            <a:r>
              <a:rPr lang="en-US" sz="2100" b="1" dirty="0"/>
              <a:t>Qualitative Analysis: </a:t>
            </a:r>
            <a:r>
              <a:rPr lang="en-US" sz="2100" dirty="0"/>
              <a:t>Scenario-based evaluation of model outputs, validating context-aware ethical reasoning against human judgments.</a:t>
            </a:r>
          </a:p>
        </p:txBody>
      </p:sp>
    </p:spTree>
    <p:extLst>
      <p:ext uri="{BB962C8B-B14F-4D97-AF65-F5344CB8AC3E}">
        <p14:creationId xmlns:p14="http://schemas.microsoft.com/office/powerpoint/2010/main" val="49760754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31CD3DB2-FE57-3E6D-2E7D-67C603151E56}"/>
              </a:ext>
            </a:extLst>
          </p:cNvPr>
          <p:cNvSpPr txBox="1"/>
          <p:nvPr/>
        </p:nvSpPr>
        <p:spPr>
          <a:xfrm>
            <a:off x="433633" y="782426"/>
            <a:ext cx="11660957" cy="5275290"/>
          </a:xfrm>
          <a:prstGeom prst="rect">
            <a:avLst/>
          </a:prstGeom>
          <a:noFill/>
        </p:spPr>
        <p:txBody>
          <a:bodyPr wrap="square">
            <a:spAutoFit/>
          </a:bodyPr>
          <a:lstStyle/>
          <a:p>
            <a:pPr>
              <a:lnSpc>
                <a:spcPct val="150000"/>
              </a:lnSpc>
            </a:pPr>
            <a:r>
              <a:rPr lang="en-US" sz="2800" b="1" dirty="0"/>
              <a:t>Conclusion &amp; Discussion</a:t>
            </a:r>
          </a:p>
          <a:p>
            <a:pPr>
              <a:lnSpc>
                <a:spcPct val="150000"/>
              </a:lnSpc>
            </a:pPr>
            <a:r>
              <a:rPr lang="en-US" sz="2600" b="1" dirty="0"/>
              <a:t>Conclusion:</a:t>
            </a:r>
          </a:p>
          <a:p>
            <a:pPr>
              <a:lnSpc>
                <a:spcPct val="150000"/>
              </a:lnSpc>
            </a:pPr>
            <a:r>
              <a:rPr lang="en-US" sz="2100" dirty="0"/>
              <a:t>Fine-tuned SLMs (</a:t>
            </a:r>
            <a:r>
              <a:rPr lang="en-US" sz="2100" dirty="0" err="1"/>
              <a:t>LLaMA</a:t>
            </a:r>
            <a:r>
              <a:rPr lang="en-US" sz="2100" dirty="0"/>
              <a:t> 3 2B, Gemma 2 2B) achieved 81.2% and 80.4% accuracy via the ETHICS dataset and RKD (84.3% and 85.1%), matching larger models’ ethical performance with reduced computational cost, ideal for edge deployment.</a:t>
            </a:r>
          </a:p>
          <a:p>
            <a:pPr>
              <a:lnSpc>
                <a:spcPct val="150000"/>
              </a:lnSpc>
            </a:pPr>
            <a:endParaRPr lang="en-US" sz="2100" dirty="0"/>
          </a:p>
          <a:p>
            <a:pPr>
              <a:lnSpc>
                <a:spcPct val="150000"/>
              </a:lnSpc>
            </a:pPr>
            <a:r>
              <a:rPr lang="en-US" sz="2600" b="1" dirty="0"/>
              <a:t>Discussion:</a:t>
            </a:r>
          </a:p>
          <a:p>
            <a:pPr marL="342900" indent="-342900">
              <a:lnSpc>
                <a:spcPct val="150000"/>
              </a:lnSpc>
              <a:buFont typeface="Wingdings" panose="05000000000000000000" pitchFamily="2" charset="2"/>
              <a:buChar char="q"/>
            </a:pPr>
            <a:r>
              <a:rPr lang="en-US" sz="2100" b="1" dirty="0"/>
              <a:t>Impact: </a:t>
            </a:r>
            <a:r>
              <a:rPr lang="en-US" sz="2100" dirty="0"/>
              <a:t>Enables bias-free, energy-efficient AI for healthcare and education. </a:t>
            </a:r>
          </a:p>
          <a:p>
            <a:pPr marL="342900" indent="-342900">
              <a:lnSpc>
                <a:spcPct val="150000"/>
              </a:lnSpc>
              <a:buFont typeface="Wingdings" panose="05000000000000000000" pitchFamily="2" charset="2"/>
              <a:buChar char="q"/>
            </a:pPr>
            <a:r>
              <a:rPr lang="en-US" sz="2100" b="1" dirty="0"/>
              <a:t>Innovation: </a:t>
            </a:r>
            <a:r>
              <a:rPr lang="en-US" sz="2100" dirty="0"/>
              <a:t>RKD’s bidirectional learning (𝐿RKD=∑KL(𝑝𝑡∥𝑝𝑠)) enhances both student and teacher models, a novel distillation paradigm.</a:t>
            </a:r>
          </a:p>
        </p:txBody>
      </p:sp>
    </p:spTree>
    <p:extLst>
      <p:ext uri="{BB962C8B-B14F-4D97-AF65-F5344CB8AC3E}">
        <p14:creationId xmlns:p14="http://schemas.microsoft.com/office/powerpoint/2010/main" val="3763119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6533CC9-D45B-BD72-BAE2-8BA7B2FBDA9A}"/>
              </a:ext>
            </a:extLst>
          </p:cNvPr>
          <p:cNvSpPr txBox="1"/>
          <p:nvPr/>
        </p:nvSpPr>
        <p:spPr>
          <a:xfrm>
            <a:off x="631595" y="593889"/>
            <a:ext cx="11274457" cy="5113708"/>
          </a:xfrm>
          <a:prstGeom prst="rect">
            <a:avLst/>
          </a:prstGeom>
          <a:noFill/>
        </p:spPr>
        <p:txBody>
          <a:bodyPr wrap="square">
            <a:spAutoFit/>
          </a:bodyPr>
          <a:lstStyle/>
          <a:p>
            <a:pPr>
              <a:lnSpc>
                <a:spcPct val="150000"/>
              </a:lnSpc>
            </a:pPr>
            <a:r>
              <a:rPr lang="en-US" sz="2600" b="1" dirty="0"/>
              <a:t>Limitations:</a:t>
            </a:r>
          </a:p>
          <a:p>
            <a:pPr marL="342900" indent="-342900">
              <a:lnSpc>
                <a:spcPct val="150000"/>
              </a:lnSpc>
              <a:buFont typeface="Wingdings" panose="05000000000000000000" pitchFamily="2" charset="2"/>
              <a:buChar char="q"/>
            </a:pPr>
            <a:r>
              <a:rPr lang="en-US" sz="2100" dirty="0"/>
              <a:t>Dataset Bias: ETHICS dataset may skew toward Western norms, limiting cross-cultural robustness.</a:t>
            </a:r>
          </a:p>
          <a:p>
            <a:pPr marL="342900" indent="-342900">
              <a:lnSpc>
                <a:spcPct val="150000"/>
              </a:lnSpc>
              <a:buFont typeface="Wingdings" panose="05000000000000000000" pitchFamily="2" charset="2"/>
              <a:buChar char="q"/>
            </a:pPr>
            <a:r>
              <a:rPr lang="en-US" sz="2100" dirty="0"/>
              <a:t>Scalability: RKD’s computational cost and theoretical gaps hinder broad adoption.</a:t>
            </a:r>
          </a:p>
          <a:p>
            <a:pPr marL="342900" indent="-342900">
              <a:lnSpc>
                <a:spcPct val="150000"/>
              </a:lnSpc>
              <a:buFont typeface="Wingdings" panose="05000000000000000000" pitchFamily="2" charset="2"/>
              <a:buChar char="q"/>
            </a:pPr>
            <a:r>
              <a:rPr lang="en-US" sz="2100" dirty="0"/>
              <a:t>Generalization: Limited transfer to datasets like Moral Scenarios or Social Chemistry.</a:t>
            </a:r>
          </a:p>
          <a:p>
            <a:pPr>
              <a:lnSpc>
                <a:spcPct val="150000"/>
              </a:lnSpc>
            </a:pPr>
            <a:endParaRPr lang="en-US" sz="2100" dirty="0"/>
          </a:p>
          <a:p>
            <a:pPr>
              <a:lnSpc>
                <a:spcPct val="150000"/>
              </a:lnSpc>
            </a:pPr>
            <a:r>
              <a:rPr lang="en-US" sz="2600" b="1" dirty="0"/>
              <a:t>Future Work:</a:t>
            </a:r>
          </a:p>
          <a:p>
            <a:pPr marL="342900" indent="-342900">
              <a:lnSpc>
                <a:spcPct val="150000"/>
              </a:lnSpc>
              <a:buFont typeface="Wingdings" panose="05000000000000000000" pitchFamily="2" charset="2"/>
              <a:buChar char="q"/>
            </a:pPr>
            <a:r>
              <a:rPr lang="en-US" sz="2100" dirty="0"/>
              <a:t>Test multilingual datasets to enhance cultural alignment.</a:t>
            </a:r>
          </a:p>
          <a:p>
            <a:pPr marL="342900" indent="-342900">
              <a:lnSpc>
                <a:spcPct val="150000"/>
              </a:lnSpc>
              <a:buFont typeface="Wingdings" panose="05000000000000000000" pitchFamily="2" charset="2"/>
              <a:buChar char="q"/>
            </a:pPr>
            <a:r>
              <a:rPr lang="en-US" sz="2100" dirty="0"/>
              <a:t>Develop human-in-the-loop metrics for subjective evaluation.</a:t>
            </a:r>
          </a:p>
          <a:p>
            <a:pPr marL="342900" indent="-342900">
              <a:lnSpc>
                <a:spcPct val="150000"/>
              </a:lnSpc>
              <a:buFont typeface="Wingdings" panose="05000000000000000000" pitchFamily="2" charset="2"/>
              <a:buChar char="q"/>
            </a:pPr>
            <a:r>
              <a:rPr lang="en-US" sz="2100" dirty="0"/>
              <a:t>Validate RKD’s loss function across architectures.</a:t>
            </a:r>
          </a:p>
          <a:p>
            <a:pPr marL="342900" indent="-342900">
              <a:lnSpc>
                <a:spcPct val="150000"/>
              </a:lnSpc>
              <a:buFont typeface="Wingdings" panose="05000000000000000000" pitchFamily="2" charset="2"/>
              <a:buChar char="q"/>
            </a:pPr>
            <a:r>
              <a:rPr lang="en-US" sz="2100" dirty="0"/>
              <a:t>Integrate RLHF to optimize ethical policy learning.</a:t>
            </a:r>
          </a:p>
        </p:txBody>
      </p:sp>
    </p:spTree>
    <p:extLst>
      <p:ext uri="{BB962C8B-B14F-4D97-AF65-F5344CB8AC3E}">
        <p14:creationId xmlns:p14="http://schemas.microsoft.com/office/powerpoint/2010/main" val="351252508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BB1108-D415-5927-60E9-C212989A5C0F}"/>
              </a:ext>
            </a:extLst>
          </p:cNvPr>
          <p:cNvSpPr>
            <a:spLocks noGrp="1"/>
          </p:cNvSpPr>
          <p:nvPr>
            <p:ph type="title"/>
          </p:nvPr>
        </p:nvSpPr>
        <p:spPr>
          <a:xfrm>
            <a:off x="581193" y="729658"/>
            <a:ext cx="11029616" cy="684363"/>
          </a:xfrm>
        </p:spPr>
        <p:txBody>
          <a:bodyPr/>
          <a:lstStyle/>
          <a:p>
            <a:pPr algn="ctr"/>
            <a:r>
              <a:rPr lang="en-US" dirty="0"/>
              <a:t>Complex Engineering Problems and Activities</a:t>
            </a:r>
          </a:p>
        </p:txBody>
      </p:sp>
      <p:sp>
        <p:nvSpPr>
          <p:cNvPr id="3" name="Text Placeholder 2">
            <a:extLst>
              <a:ext uri="{FF2B5EF4-FFF2-40B4-BE49-F238E27FC236}">
                <a16:creationId xmlns:a16="http://schemas.microsoft.com/office/drawing/2014/main" id="{86F59B0B-3342-8A88-D32E-BEE373DC2F80}"/>
              </a:ext>
            </a:extLst>
          </p:cNvPr>
          <p:cNvSpPr>
            <a:spLocks noGrp="1"/>
          </p:cNvSpPr>
          <p:nvPr>
            <p:ph type="body" idx="1"/>
          </p:nvPr>
        </p:nvSpPr>
        <p:spPr>
          <a:xfrm>
            <a:off x="883582" y="1982889"/>
            <a:ext cx="5087075" cy="536005"/>
          </a:xfrm>
        </p:spPr>
        <p:txBody>
          <a:bodyPr/>
          <a:lstStyle/>
          <a:p>
            <a:pPr algn="ctr"/>
            <a:r>
              <a:rPr lang="en-US" sz="2000" dirty="0">
                <a:solidFill>
                  <a:schemeClr val="tx1"/>
                </a:solidFill>
              </a:rPr>
              <a:t>Complex Engineering Problems (CEP)</a:t>
            </a:r>
          </a:p>
        </p:txBody>
      </p:sp>
      <p:pic>
        <p:nvPicPr>
          <p:cNvPr id="8" name="Content Placeholder 7">
            <a:extLst>
              <a:ext uri="{FF2B5EF4-FFF2-40B4-BE49-F238E27FC236}">
                <a16:creationId xmlns:a16="http://schemas.microsoft.com/office/drawing/2014/main" id="{5FDA4A7D-4A79-8046-FAB8-0CE27BBD0DF5}"/>
              </a:ext>
            </a:extLst>
          </p:cNvPr>
          <p:cNvPicPr>
            <a:picLocks noGrp="1" noChangeAspect="1"/>
          </p:cNvPicPr>
          <p:nvPr>
            <p:ph sz="half" idx="2"/>
          </p:nvPr>
        </p:nvPicPr>
        <p:blipFill>
          <a:blip r:embed="rId2"/>
          <a:stretch>
            <a:fillRect/>
          </a:stretch>
        </p:blipFill>
        <p:spPr>
          <a:xfrm>
            <a:off x="581190" y="2441542"/>
            <a:ext cx="5428983" cy="3563523"/>
          </a:xfrm>
        </p:spPr>
      </p:pic>
      <p:sp>
        <p:nvSpPr>
          <p:cNvPr id="5" name="Text Placeholder 4">
            <a:extLst>
              <a:ext uri="{FF2B5EF4-FFF2-40B4-BE49-F238E27FC236}">
                <a16:creationId xmlns:a16="http://schemas.microsoft.com/office/drawing/2014/main" id="{E6FC04DE-28C4-DDFA-47F7-B13A59A96AB1}"/>
              </a:ext>
            </a:extLst>
          </p:cNvPr>
          <p:cNvSpPr>
            <a:spLocks noGrp="1"/>
          </p:cNvSpPr>
          <p:nvPr>
            <p:ph type="body" sz="quarter" idx="3"/>
          </p:nvPr>
        </p:nvSpPr>
        <p:spPr>
          <a:xfrm>
            <a:off x="6181829" y="1982889"/>
            <a:ext cx="5087075" cy="536005"/>
          </a:xfrm>
        </p:spPr>
        <p:txBody>
          <a:bodyPr/>
          <a:lstStyle/>
          <a:p>
            <a:endParaRPr lang="en-US" sz="2000" dirty="0"/>
          </a:p>
          <a:p>
            <a:endParaRPr lang="en-US" sz="2000" dirty="0"/>
          </a:p>
          <a:p>
            <a:endParaRPr lang="en-US" dirty="0"/>
          </a:p>
          <a:p>
            <a:pPr algn="ctr"/>
            <a:r>
              <a:rPr lang="en-US" sz="2000" dirty="0">
                <a:solidFill>
                  <a:schemeClr val="tx1"/>
                </a:solidFill>
              </a:rPr>
              <a:t>Complex Engineering Activities(CEA)</a:t>
            </a:r>
          </a:p>
        </p:txBody>
      </p:sp>
      <p:pic>
        <p:nvPicPr>
          <p:cNvPr id="10" name="Content Placeholder 9">
            <a:extLst>
              <a:ext uri="{FF2B5EF4-FFF2-40B4-BE49-F238E27FC236}">
                <a16:creationId xmlns:a16="http://schemas.microsoft.com/office/drawing/2014/main" id="{58EEC3F8-1302-D9EF-32F8-2A95E3D90DF9}"/>
              </a:ext>
            </a:extLst>
          </p:cNvPr>
          <p:cNvPicPr>
            <a:picLocks noGrp="1" noChangeAspect="1"/>
          </p:cNvPicPr>
          <p:nvPr>
            <p:ph sz="quarter" idx="4"/>
          </p:nvPr>
        </p:nvPicPr>
        <p:blipFill>
          <a:blip r:embed="rId3"/>
          <a:stretch>
            <a:fillRect/>
          </a:stretch>
        </p:blipFill>
        <p:spPr>
          <a:xfrm>
            <a:off x="5973929" y="2624465"/>
            <a:ext cx="5634117" cy="3248434"/>
          </a:xfrm>
        </p:spPr>
      </p:pic>
    </p:spTree>
    <p:extLst>
      <p:ext uri="{BB962C8B-B14F-4D97-AF65-F5344CB8AC3E}">
        <p14:creationId xmlns:p14="http://schemas.microsoft.com/office/powerpoint/2010/main" val="70760719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379F11E2-8BA5-4C5C-AE7C-361E5EA011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7C00E1DA-EC7C-40FC-95E3-11FDCD2E42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723899"/>
            <a:ext cx="3703320" cy="566666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grpSp>
        <p:nvGrpSpPr>
          <p:cNvPr id="14" name="Group 13">
            <a:extLst>
              <a:ext uri="{FF2B5EF4-FFF2-40B4-BE49-F238E27FC236}">
                <a16:creationId xmlns:a16="http://schemas.microsoft.com/office/drawing/2014/main" id="{9A421166-2996-41A7-B094-AE5316F347D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46534" y="453643"/>
            <a:ext cx="11298933" cy="98554"/>
            <a:chOff x="446534" y="453643"/>
            <a:chExt cx="11298933" cy="98554"/>
          </a:xfrm>
        </p:grpSpPr>
        <p:sp>
          <p:nvSpPr>
            <p:cNvPr id="15" name="Rectangle 14">
              <a:extLst>
                <a:ext uri="{FF2B5EF4-FFF2-40B4-BE49-F238E27FC236}">
                  <a16:creationId xmlns:a16="http://schemas.microsoft.com/office/drawing/2014/main" id="{FDBB1B92-A3EB-43E4-8FAB-D20E8ED14CE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6" name="Rectangle 15">
              <a:extLst>
                <a:ext uri="{FF2B5EF4-FFF2-40B4-BE49-F238E27FC236}">
                  <a16:creationId xmlns:a16="http://schemas.microsoft.com/office/drawing/2014/main" id="{3F3972F4-FE7E-48EA-AAD8-9BE5750A66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sp>
        <p:sp>
          <p:nvSpPr>
            <p:cNvPr id="17" name="Rectangle 16">
              <a:extLst>
                <a:ext uri="{FF2B5EF4-FFF2-40B4-BE49-F238E27FC236}">
                  <a16:creationId xmlns:a16="http://schemas.microsoft.com/office/drawing/2014/main" id="{221614E5-870B-4D5E-A43B-8FF7E53234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a:extLst>
              <a:ext uri="{FF2B5EF4-FFF2-40B4-BE49-F238E27FC236}">
                <a16:creationId xmlns:a16="http://schemas.microsoft.com/office/drawing/2014/main" id="{0F87E73C-2B1A-4602-BFBE-CFE1E55D9B38}"/>
              </a:ext>
            </a:extLst>
          </p:cNvPr>
          <p:cNvSpPr>
            <a:spLocks noGrp="1"/>
          </p:cNvSpPr>
          <p:nvPr>
            <p:ph type="ctrTitle"/>
          </p:nvPr>
        </p:nvSpPr>
        <p:spPr>
          <a:xfrm>
            <a:off x="8296275" y="1419226"/>
            <a:ext cx="3081576" cy="1746762"/>
          </a:xfrm>
        </p:spPr>
        <p:txBody>
          <a:bodyPr>
            <a:normAutofit/>
          </a:bodyPr>
          <a:lstStyle/>
          <a:p>
            <a:r>
              <a:rPr lang="en-US" dirty="0">
                <a:solidFill>
                  <a:srgbClr val="FFFFFF"/>
                </a:solidFill>
              </a:rPr>
              <a:t>Thank You</a:t>
            </a:r>
          </a:p>
        </p:txBody>
      </p:sp>
      <p:sp>
        <p:nvSpPr>
          <p:cNvPr id="3" name="Subtitle 2">
            <a:extLst>
              <a:ext uri="{FF2B5EF4-FFF2-40B4-BE49-F238E27FC236}">
                <a16:creationId xmlns:a16="http://schemas.microsoft.com/office/drawing/2014/main" id="{A9CB511D-EA45-4336-847C-1252667143B5}"/>
              </a:ext>
            </a:extLst>
          </p:cNvPr>
          <p:cNvSpPr>
            <a:spLocks noGrp="1"/>
          </p:cNvSpPr>
          <p:nvPr>
            <p:ph type="subTitle" idx="1"/>
          </p:nvPr>
        </p:nvSpPr>
        <p:spPr>
          <a:xfrm>
            <a:off x="8296275" y="3505095"/>
            <a:ext cx="3081576" cy="2629006"/>
          </a:xfrm>
        </p:spPr>
        <p:txBody>
          <a:bodyPr>
            <a:normAutofit/>
          </a:bodyPr>
          <a:lstStyle/>
          <a:p>
            <a:endParaRPr lang="en-US" dirty="0">
              <a:solidFill>
                <a:schemeClr val="bg2"/>
              </a:solidFill>
            </a:endParaRPr>
          </a:p>
          <a:p>
            <a:endParaRPr lang="en-US" dirty="0">
              <a:solidFill>
                <a:schemeClr val="bg2"/>
              </a:solidFill>
            </a:endParaRPr>
          </a:p>
        </p:txBody>
      </p:sp>
      <p:pic>
        <p:nvPicPr>
          <p:cNvPr id="5" name="Picture 4" descr="Digital Numbers">
            <a:extLst>
              <a:ext uri="{FF2B5EF4-FFF2-40B4-BE49-F238E27FC236}">
                <a16:creationId xmlns:a16="http://schemas.microsoft.com/office/drawing/2014/main" id="{A21EA617-6D48-425F-97A8-7FEC82C8F401}"/>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l="2189" r="9642" b="1"/>
          <a:stretch/>
        </p:blipFill>
        <p:spPr>
          <a:xfrm>
            <a:off x="446534" y="723899"/>
            <a:ext cx="7498616" cy="5676901"/>
          </a:xfrm>
          <a:prstGeom prst="rect">
            <a:avLst/>
          </a:prstGeom>
        </p:spPr>
      </p:pic>
    </p:spTree>
    <p:extLst>
      <p:ext uri="{BB962C8B-B14F-4D97-AF65-F5344CB8AC3E}">
        <p14:creationId xmlns:p14="http://schemas.microsoft.com/office/powerpoint/2010/main" val="3501347425"/>
      </p:ext>
    </p:extLst>
  </p:cSld>
  <p:clrMapOvr>
    <a:masterClrMapping/>
  </p:clrMapOvr>
</p:sld>
</file>

<file path=ppt/theme/theme1.xml><?xml version="1.0" encoding="utf-8"?>
<a:theme xmlns:a="http://schemas.openxmlformats.org/drawingml/2006/main" name="Custom">
  <a:themeElements>
    <a:clrScheme name="Dividend">
      <a:dk1>
        <a:sysClr val="windowText" lastClr="000000"/>
      </a:dk1>
      <a:lt1>
        <a:sysClr val="window" lastClr="FFFFFF"/>
      </a:lt1>
      <a:dk2>
        <a:srgbClr val="3D3D3D"/>
      </a:dk2>
      <a:lt2>
        <a:srgbClr val="EBEBEB"/>
      </a:lt2>
      <a:accent1>
        <a:srgbClr val="1A3260"/>
      </a:accent1>
      <a:accent2>
        <a:srgbClr val="4590B8"/>
      </a:accent2>
      <a:accent3>
        <a:srgbClr val="45CBE8"/>
      </a:accent3>
      <a:accent4>
        <a:srgbClr val="969FA7"/>
      </a:accent4>
      <a:accent5>
        <a:srgbClr val="A2C777"/>
      </a:accent5>
      <a:accent6>
        <a:srgbClr val="42955F"/>
      </a:accent6>
      <a:hlink>
        <a:srgbClr val="828282"/>
      </a:hlink>
      <a:folHlink>
        <a:srgbClr val="A5A5A5"/>
      </a:folHlink>
    </a:clrScheme>
    <a:fontScheme name="Dividend">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tf56390039_win32_fixed.potx" id="{08D75CB0-AD9B-4834-8559-901094BB0ABE}" vid="{3B3EDB20-B381-4B6C-99AC-7C5CDA2B40F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7" ma:contentTypeDescription="Create a new document." ma:contentTypeScope="" ma:versionID="c6f9a84f66a9c8b9a21755b9ffafb945">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27df39e3e7036dff54f89ddd5805ce72"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792209EB-3212-4116-B574-D1F56C7C492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342D3C2F-55A5-48C0-9D5A-95C7FF0389D0}">
  <ds:schemaRefs>
    <ds:schemaRef ds:uri="http://schemas.microsoft.com/sharepoint/v3/contenttype/forms"/>
  </ds:schemaRefs>
</ds:datastoreItem>
</file>

<file path=customXml/itemProps3.xml><?xml version="1.0" encoding="utf-8"?>
<ds:datastoreItem xmlns:ds="http://schemas.openxmlformats.org/officeDocument/2006/customXml" ds:itemID="{3791575F-4C21-47C4-8D13-EB9BE66B536F}">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docProps/app.xml><?xml version="1.0" encoding="utf-8"?>
<Properties xmlns="http://schemas.openxmlformats.org/officeDocument/2006/extended-properties" xmlns:vt="http://schemas.openxmlformats.org/officeDocument/2006/docPropsVTypes">
  <Template>Tech design</Template>
  <TotalTime>384</TotalTime>
  <Words>1005</Words>
  <Application>Microsoft Office PowerPoint</Application>
  <PresentationFormat>Widescreen</PresentationFormat>
  <Paragraphs>96</Paragraphs>
  <Slides>15</Slides>
  <Notes>10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Arial</vt:lpstr>
      <vt:lpstr>Calibri</vt:lpstr>
      <vt:lpstr>Gill Sans MT</vt:lpstr>
      <vt:lpstr>Wingdings</vt:lpstr>
      <vt:lpstr>Wingdings 2</vt:lpstr>
      <vt:lpstr>Custom</vt:lpstr>
      <vt:lpstr>Ethical Alignment of Small Language Models Using the ETHICS Dataset and Knowledge Distillation from Large Language Models.</vt:lpstr>
      <vt:lpstr>AMANULLAH AHSAN 2021769642 Taskin Ahmed Prottoy 2031669642 Atikur Rahman SHOHAG 2021746642 AFSANA AHMED SHAMMI 2021973642 SURAIYA AKTER 2022623642 </vt:lpstr>
      <vt:lpstr>Introduction</vt:lpstr>
      <vt:lpstr>Background </vt:lpstr>
      <vt:lpstr>Research Gap </vt:lpstr>
      <vt:lpstr>Our Contribution </vt:lpstr>
      <vt:lpstr>Objective </vt:lpstr>
      <vt:lpstr>Methodology </vt:lpstr>
      <vt:lpstr> </vt:lpstr>
      <vt:lpstr>PowerPoint Presentation</vt:lpstr>
      <vt:lpstr>Experiments and Results</vt:lpstr>
      <vt:lpstr>PowerPoint Presentation</vt:lpstr>
      <vt:lpstr>PowerPoint Presentation</vt:lpstr>
      <vt:lpstr>Complex Engineering Problems and Activities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Amanullah Ahsan</dc:creator>
  <cp:lastModifiedBy>Amanullah Ahsan</cp:lastModifiedBy>
  <cp:revision>7</cp:revision>
  <dcterms:created xsi:type="dcterms:W3CDTF">2025-04-13T00:55:24Z</dcterms:created>
  <dcterms:modified xsi:type="dcterms:W3CDTF">2025-04-13T07:48:31Z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